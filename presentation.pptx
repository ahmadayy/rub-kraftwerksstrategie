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evaluates Germany's proposed capacity mechanism, the Kraftwerksstrategie. We do it in two layers: first a literature-based evaluation of capacity mechanisms, and then our own PyPSA model of the 2030 German power system that tests those ideas with real numbers. I'll introduce the team and then walk through both parts.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 has two halves. Part 1 is the theory: we explain the German market, the policy itself, and what the academic literature says capacity mechanisms do. Part 2 is our own evidence: a PyPSA model that compares 2030 without the policy (Scenario A) against 2030 with it (Scenario B). We end by checking whether our model agrees with the literature.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literature sources only. The motivation is simple: Germany is shutting down nuclear and coal while leaning more on wind and solar, which don't blow or shine on demand. The policy's answer is to fund about ten gigawatts of new hydrogen-ready gas. Our research question is what that firm capacity actually does in 2030 to security of supply, prices, gas use and emissions.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literature sources only. Two things to take away. On the left, Germany runs an energy-only market and is removing firm capacity while adding renewables, which creates the adequacy concern. On the right are the official 2030 fleet targets we use: huge solar and wind, much less coal, the existing gas fleet, storage, and the policy's extra ten gigawatts of new gas in Scenario B. These come from the EEG, the coal-exit law, and the grid operators' scenario.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literature sources only. The policy was settled with the European Commission on 15 January 2026. The first step tenders 12 GW of new controllable capacity, of which 10 GW must run for long periods — in practice efficient, hydrogen-ready gas, online by 2031. It is followed by a permanent capacity market from 2032. Crucially, plants are paid for being available, which is what makes this a capacity remuneration mechanism — the object of our study.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literature sources only. Capacity mechanisms split on two axes. Targeted ones pay only a ring-fenced subset, like a strategic reserve; market-wide ones pay all eligible capacity. Price-based fix the payment; quantity-based fix a volume and let an auction set the price. Germany's tender for new capacity — highlighted — is a targeted, quantity-based instrument.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literature sources only. The Kraftwerksstrategie is really two instruments. Stage one, now, is a targeted tender for about ten gigawatts of new gas. Stage two, from 2032, is a market-wide capacity market. This is a major shift, because for a decade Germany deliberately relied on an energy-only market plus a small strategic reserve. Our model focuses on Stage one — the ten gigawatts.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literature sources only. Five strands matter. Cramton and Stoft, and Joskow, define the missing-money problem. Bublitz and colleagues show CRMs cut price spikes and shift income to capacity payments. Bhagwat and colleagues show they improve adequacy but raise cost. Newbery stresses interconnectors as substitutes. And the European Parliament warns about windfall profits for existing plants. These become the predictions we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literature sources only. This slide is the bridge to our model. Theory predicts less scarcity, lower and far less volatile prices, lower gas utilisation, roughly unchanged curtailment, higher cost in the textbook view, and an ambiguous carbon effect. In Part 2 we test every one of these against our own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PyPSA model output (comparison_table.csv); identical to the report. Our model treats Germany as one bus, dispatching every hour of the year at least cost with the open-source PyPSA and HiGHS tools. We first reproduced the real 2025 price to within half a percent, then projected to 2030 and compared two scenarios: without the new capacity (A) and with the policy's ten gigawatts (B).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PyPSA model output; identical to the report. This is a real extract of our model code. It builds the single bus, adds hourly demand, and adds each power plant with its capacity and running cost; renewables come in with their real hourly availability. The full runnable code is in the project folder, so every result is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model output; identical to the report. These are the main inputs for 2030: the renewable targets from the EEG, coal capped by the coal-exit law, a carbon price of 110 euros, and a value of lost load of 3000 euros per megawatt-hour that prices scarcity. Only one number changes between scenarios — the ten gigawatts of new gas.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PyPSA model output (comparison_table.csv); identical to the report. In scenario A a few hours spike to the value of lost load. Adding the gas in B caps those hours, so the average price falls about eighteen per cent and volatility about eighty per cent, while the typical hour barely changes — exactly what the literature predicted.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PyPSA model output; identical to the report. This is the clearest result: the new capacity removes the residual loss-of-load hours entirely, taking unserved energy to zero. Even with imports available, scenario A keeps a small adequacy gap that the policy closes.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model output; identical to the report. As theory predicts, adding capacity dilutes utilisation: the existing gas runs fewer hours and the old peakers roughly halve, because the efficient new plant displaces them in the merit order.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model output; identical to the report. Curtailment is identical in both scenarios, again as predicted: firm gas only runs when there is a deficit, never in the surplus hours when renewables are spilled, so it cannot change curtailment.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model output; identical to the report. This winter week makes the mechanism concrete. In A the system strains and hits scarcity prices; in B the new hydrogen-ready gas fills the gap, which is where almost all of the policy's value is concentrated.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PyPSA model output (comparison_table.csv); identical to the report. This is the headline table. With the new capacity, prices and volatility fall, scarcity and unserved energy go to zero, gas utilisation falls, emissions and imports drop, and — because the efficient plant displaces costlier generation — even total system cost is slightly lower.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every prediction holds: better adequacy, lower volatility, diluted gas use, unchanged curtailment, and the missing-money logic. The single divergence is cost: textbooks expect it to rise, but ours falls about three and a half per cent, because the new plant is efficient enough to displace costlier supply and pay for itself. We flag this honestly as our most interesting finding.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from the uploaded model output; identical to the report. The takeaway is that the policy works mainly by removing the rare, violent price spikes — the average and the volatility drop sharply, while the typical hour barely moves. That means steadier wholesale prices and secured supply. One honesty note: these are wholesale prices, not the final consumer bill, which also includes taxes and grid fees.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honest about five limits. One node hides grid congestion, which is why curtailment looks low and gas hours high. The model only dispatches, it does not choose how much to build. Perfect foresight makes the system run too smoothly. We used one weather year, so the exact scarcity number is fragile. And costs are simplified, wholesale only — no taxes, subsidy or consumer bills. None of these change the direction of the findings.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policy secures supply, lowers and steadies prices, and cuts emissions and imports, with curtailment unchanged. The efficient plant pays for itself at 2030 prices, yet the energy-only market may still fail to deliver it — the missing-money rationale for the mechanism. And looking forward, open models like PyPSA are becoming the standard tool for exactly this kind of adequacy and capacity-mechanism analysis.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 sources behind the deck, in APA 7th style, identical to the report's reference list — the core CRM literature, the EU electricity regulation, the PyPSA and HiGHS tool papers, and the official German data and policy sources. Happy to point to any specific one.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To summarise in one line: a literature review and our own PyPSA model both show the Kraftwerksstrategie secures supply and lowers and steadies 2030 prices — and the model quantifies it.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62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548640"/>
          </a:xfrm>
          <a:prstGeom prst="rect">
            <a:avLst/>
          </a:prstGeom>
          <a:noFill/>
        </p:spPr>
        <p:txBody>
          <a:bodyPr wrap="square" anchor="t" lIns="25400" rIns="25400" tIns="12700" bIns="12700">
            <a:spAutoFit/>
          </a:bodyPr>
          <a:lstStyle/>
          <a:p>
            <a:pPr algn="l">
              <a:spcAft>
                <a:spcPts val="0"/>
              </a:spcAft>
            </a:pPr>
            <a:r>
              <a:rPr sz="1500" b="1" i="0">
                <a:solidFill>
                  <a:srgbClr val="8AB71A"/>
                </a:solidFill>
                <a:latin typeface="Calibri"/>
              </a:rPr>
              <a:t>RUHR-UNIVERSITÄT BOCHUM</a:t>
            </a:r>
          </a:p>
        </p:txBody>
      </p:sp>
      <p:sp>
        <p:nvSpPr>
          <p:cNvPr id="5" name="TextBox 4"/>
          <p:cNvSpPr txBox="1"/>
          <p:nvPr/>
        </p:nvSpPr>
        <p:spPr>
          <a:xfrm>
            <a:off x="822960" y="1737360"/>
            <a:ext cx="10515600" cy="2377440"/>
          </a:xfrm>
          <a:prstGeom prst="rect">
            <a:avLst/>
          </a:prstGeom>
          <a:noFill/>
        </p:spPr>
        <p:txBody>
          <a:bodyPr wrap="square" anchor="t" lIns="25400" rIns="25400" tIns="12700" bIns="12700">
            <a:spAutoFit/>
          </a:bodyPr>
          <a:lstStyle/>
          <a:p>
            <a:pPr algn="l">
              <a:spcAft>
                <a:spcPts val="200"/>
              </a:spcAft>
            </a:pPr>
            <a:r>
              <a:rPr sz="3400" b="1" i="0">
                <a:solidFill>
                  <a:srgbClr val="FFFFFF"/>
                </a:solidFill>
                <a:latin typeface="Calibri"/>
              </a:rPr>
              <a:t>Evaluating Germany's Proposed</a:t>
            </a:r>
          </a:p>
          <a:p>
            <a:pPr algn="l">
              <a:spcAft>
                <a:spcPts val="200"/>
              </a:spcAft>
            </a:pPr>
            <a:r>
              <a:rPr sz="3400" b="1" i="0">
                <a:solidFill>
                  <a:srgbClr val="FFFFFF"/>
                </a:solidFill>
                <a:latin typeface="Calibri"/>
              </a:rPr>
              <a:t>Capacity Mechanism “Kraftwerksstrategie”</a:t>
            </a:r>
          </a:p>
        </p:txBody>
      </p:sp>
      <p:sp>
        <p:nvSpPr>
          <p:cNvPr id="6" name="TextBox 5"/>
          <p:cNvSpPr txBox="1"/>
          <p:nvPr/>
        </p:nvSpPr>
        <p:spPr>
          <a:xfrm>
            <a:off x="822960" y="4343400"/>
            <a:ext cx="10515600" cy="1280160"/>
          </a:xfrm>
          <a:prstGeom prst="rect">
            <a:avLst/>
          </a:prstGeom>
          <a:noFill/>
        </p:spPr>
        <p:txBody>
          <a:bodyPr wrap="square" anchor="t" lIns="25400" rIns="25400" tIns="12700" bIns="12700">
            <a:spAutoFit/>
          </a:bodyPr>
          <a:lstStyle/>
          <a:p>
            <a:pPr algn="l">
              <a:spcAft>
                <a:spcPts val="600"/>
              </a:spcAft>
            </a:pPr>
            <a:r>
              <a:rPr sz="1600" b="0" i="1">
                <a:solidFill>
                  <a:srgbClr val="FFFFFF"/>
                </a:solidFill>
                <a:latin typeface="Calibri"/>
              </a:rPr>
              <a:t>A two-layer evaluation: CRM literature review  +  a PyPSA model of the 2030 German power system</a:t>
            </a:r>
          </a:p>
          <a:p>
            <a:pPr algn="l">
              <a:spcAft>
                <a:spcPts val="200"/>
              </a:spcAft>
            </a:pPr>
            <a:r>
              <a:rPr sz="1350" b="0" i="0">
                <a:solidFill>
                  <a:srgbClr val="CFDDEA"/>
                </a:solidFill>
                <a:latin typeface="Calibri"/>
              </a:rPr>
              <a:t>Group project  ·  Energy Systems / Energy Economics  ·  June 2026</a:t>
            </a:r>
          </a:p>
          <a:p>
            <a:pPr algn="l">
              <a:spcAft>
                <a:spcPts val="200"/>
              </a:spcAft>
            </a:pPr>
            <a:r>
              <a:rPr sz="1350" b="0" i="0">
                <a:solidFill>
                  <a:srgbClr val="CFDDEA"/>
                </a:solidFill>
                <a:latin typeface="Calibri"/>
              </a:rPr>
              <a:t>Group members: [Name 1] · [Name 2] · [Name 3] · [Name 4]</a:t>
            </a:r>
          </a:p>
        </p:txBody>
      </p:sp>
      <p:sp>
        <p:nvSpPr>
          <p:cNvPr id="7" name="Rectangle 6"/>
          <p:cNvSpPr/>
          <p:nvPr/>
        </p:nvSpPr>
        <p:spPr>
          <a:xfrm>
            <a:off x="9448495" y="457200"/>
            <a:ext cx="210312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457200"/>
            <a:ext cx="2103120" cy="777240"/>
          </a:xfrm>
          <a:prstGeom prst="rect">
            <a:avLst/>
          </a:prstGeom>
          <a:noFill/>
        </p:spPr>
        <p:txBody>
          <a:bodyPr wrap="square" anchor="ctr" lIns="25400" rIns="25400" tIns="12700" bIns="12700">
            <a:spAutoFit/>
          </a:bodyPr>
          <a:lstStyle/>
          <a:p>
            <a:pPr algn="ctr">
              <a:spcAft>
                <a:spcPts val="0"/>
              </a:spcAft>
            </a:pPr>
            <a:r>
              <a:rPr sz="1200" b="1" i="0">
                <a:solidFill>
                  <a:srgbClr val="003560"/>
                </a:solidFill>
                <a:latin typeface="Calibri"/>
              </a:rPr>
              <a:t>[ RUB logo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Agenda — Two Analytical Layers</a:t>
            </a:r>
          </a:p>
        </p:txBody>
      </p:sp>
      <p:sp>
        <p:nvSpPr>
          <p:cNvPr id="5" name="TextBox 4"/>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6" name="TextBox 5"/>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2</a:t>
            </a:r>
          </a:p>
        </p:txBody>
      </p:sp>
      <p:sp>
        <p:nvSpPr>
          <p:cNvPr id="7" name="Rectangle 6"/>
          <p:cNvSpPr/>
          <p:nvPr/>
        </p:nvSpPr>
        <p:spPr>
          <a:xfrm>
            <a:off x="640080" y="1417320"/>
            <a:ext cx="5349240" cy="42062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508760"/>
            <a:ext cx="5020056" cy="4023360"/>
          </a:xfrm>
          <a:prstGeom prst="rect">
            <a:avLst/>
          </a:prstGeom>
          <a:noFill/>
        </p:spPr>
        <p:txBody>
          <a:bodyPr wrap="square" anchor="t" lIns="25400" rIns="25400" tIns="12700" bIns="12700">
            <a:spAutoFit/>
          </a:bodyPr>
          <a:lstStyle/>
          <a:p>
            <a:pPr algn="l">
              <a:spcAft>
                <a:spcPts val="500"/>
              </a:spcAft>
            </a:pPr>
            <a:r>
              <a:rPr sz="1500" b="1" i="0">
                <a:solidFill>
                  <a:srgbClr val="003560"/>
                </a:solidFill>
                <a:latin typeface="Calibri"/>
              </a:rPr>
              <a:t>PART 1 — Literature-based evaluation</a:t>
            </a:r>
          </a:p>
          <a:p>
            <a:pPr algn="l">
              <a:spcAft>
                <a:spcPts val="400"/>
              </a:spcAft>
            </a:pPr>
            <a:r>
              <a:rPr sz="1250" b="0" i="0">
                <a:solidFill>
                  <a:srgbClr val="222222"/>
                </a:solidFill>
                <a:latin typeface="Calibri"/>
              </a:rPr>
              <a:t>•  German electricity market &amp; the 2030 fleet</a:t>
            </a:r>
          </a:p>
          <a:p>
            <a:pPr algn="l">
              <a:spcAft>
                <a:spcPts val="400"/>
              </a:spcAft>
            </a:pPr>
            <a:r>
              <a:rPr sz="1250" b="0" i="0">
                <a:solidFill>
                  <a:srgbClr val="222222"/>
                </a:solidFill>
                <a:latin typeface="Calibri"/>
              </a:rPr>
              <a:t>•  The Kraftwerksstrategie: what is planned</a:t>
            </a:r>
          </a:p>
          <a:p>
            <a:pPr algn="l">
              <a:spcAft>
                <a:spcPts val="400"/>
              </a:spcAft>
            </a:pPr>
            <a:r>
              <a:rPr sz="1250" b="0" i="0">
                <a:solidFill>
                  <a:srgbClr val="222222"/>
                </a:solidFill>
                <a:latin typeface="Calibri"/>
              </a:rPr>
              <a:t>•  Capacity-mechanism (CRM) taxonomy</a:t>
            </a:r>
          </a:p>
          <a:p>
            <a:pPr algn="l">
              <a:spcAft>
                <a:spcPts val="400"/>
              </a:spcAft>
            </a:pPr>
            <a:r>
              <a:rPr sz="1250" b="0" i="0">
                <a:solidFill>
                  <a:srgbClr val="222222"/>
                </a:solidFill>
                <a:latin typeface="Calibri"/>
              </a:rPr>
              <a:t>•  Where the policy sits in the taxonomy</a:t>
            </a:r>
          </a:p>
          <a:p>
            <a:pPr algn="l">
              <a:spcAft>
                <a:spcPts val="400"/>
              </a:spcAft>
            </a:pPr>
            <a:r>
              <a:rPr sz="1250" b="0" i="0">
                <a:solidFill>
                  <a:srgbClr val="222222"/>
                </a:solidFill>
                <a:latin typeface="Calibri"/>
              </a:rPr>
              <a:t>•  What the literature finds about CRMs</a:t>
            </a:r>
          </a:p>
          <a:p>
            <a:pPr algn="l">
              <a:spcAft>
                <a:spcPts val="400"/>
              </a:spcAft>
            </a:pPr>
            <a:r>
              <a:rPr sz="1250" b="0" i="0">
                <a:solidFill>
                  <a:srgbClr val="222222"/>
                </a:solidFill>
                <a:latin typeface="Calibri"/>
              </a:rPr>
              <a:t>•  Expected impact on electricity prices</a:t>
            </a:r>
          </a:p>
        </p:txBody>
      </p:sp>
      <p:sp>
        <p:nvSpPr>
          <p:cNvPr id="9" name="Rectangle 8"/>
          <p:cNvSpPr/>
          <p:nvPr/>
        </p:nvSpPr>
        <p:spPr>
          <a:xfrm>
            <a:off x="6217920" y="1417320"/>
            <a:ext cx="5349240" cy="4206240"/>
          </a:xfrm>
          <a:prstGeom prst="rect">
            <a:avLst/>
          </a:prstGeom>
          <a:solidFill>
            <a:srgbClr val="EC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508760"/>
            <a:ext cx="5020056" cy="4023360"/>
          </a:xfrm>
          <a:prstGeom prst="rect">
            <a:avLst/>
          </a:prstGeom>
          <a:noFill/>
        </p:spPr>
        <p:txBody>
          <a:bodyPr wrap="square" anchor="t" lIns="25400" rIns="25400" tIns="12700" bIns="12700">
            <a:spAutoFit/>
          </a:bodyPr>
          <a:lstStyle/>
          <a:p>
            <a:pPr algn="l">
              <a:spcAft>
                <a:spcPts val="500"/>
              </a:spcAft>
            </a:pPr>
            <a:r>
              <a:rPr sz="1500" b="1" i="0">
                <a:solidFill>
                  <a:srgbClr val="4D6B0F"/>
                </a:solidFill>
                <a:latin typeface="Calibri"/>
              </a:rPr>
              <a:t>PART 2 — Model-based evaluation</a:t>
            </a:r>
          </a:p>
          <a:p>
            <a:pPr algn="l">
              <a:spcAft>
                <a:spcPts val="400"/>
              </a:spcAft>
            </a:pPr>
            <a:r>
              <a:rPr sz="1250" b="0" i="0">
                <a:solidFill>
                  <a:srgbClr val="222222"/>
                </a:solidFill>
                <a:latin typeface="Calibri"/>
              </a:rPr>
              <a:t>•  The PyPSA model &amp; two scenarios (A vs B)</a:t>
            </a:r>
          </a:p>
          <a:p>
            <a:pPr algn="l">
              <a:spcAft>
                <a:spcPts val="400"/>
              </a:spcAft>
            </a:pPr>
            <a:r>
              <a:rPr sz="1250" b="0" i="0">
                <a:solidFill>
                  <a:srgbClr val="222222"/>
                </a:solidFill>
                <a:latin typeface="Calibri"/>
              </a:rPr>
              <a:t>•  Data, assumptions and the code</a:t>
            </a:r>
          </a:p>
          <a:p>
            <a:pPr algn="l">
              <a:spcAft>
                <a:spcPts val="400"/>
              </a:spcAft>
            </a:pPr>
            <a:r>
              <a:rPr sz="1250" b="0" i="0">
                <a:solidFill>
                  <a:srgbClr val="222222"/>
                </a:solidFill>
                <a:latin typeface="Calibri"/>
              </a:rPr>
              <a:t>•  Prices, security of supply, gas use</a:t>
            </a:r>
          </a:p>
          <a:p>
            <a:pPr algn="l">
              <a:spcAft>
                <a:spcPts val="400"/>
              </a:spcAft>
            </a:pPr>
            <a:r>
              <a:rPr sz="1250" b="0" i="0">
                <a:solidFill>
                  <a:srgbClr val="222222"/>
                </a:solidFill>
                <a:latin typeface="Calibri"/>
              </a:rPr>
              <a:t>•  Curtailment and dispatch</a:t>
            </a:r>
          </a:p>
          <a:p>
            <a:pPr algn="l">
              <a:spcAft>
                <a:spcPts val="400"/>
              </a:spcAft>
            </a:pPr>
            <a:r>
              <a:rPr sz="1250" b="0" i="0">
                <a:solidFill>
                  <a:srgbClr val="222222"/>
                </a:solidFill>
                <a:latin typeface="Calibri"/>
              </a:rPr>
              <a:t>•  Results summary (A vs B)</a:t>
            </a:r>
          </a:p>
          <a:p>
            <a:pPr algn="l">
              <a:spcAft>
                <a:spcPts val="400"/>
              </a:spcAft>
            </a:pPr>
            <a:r>
              <a:rPr sz="1250" b="0" i="0">
                <a:solidFill>
                  <a:srgbClr val="222222"/>
                </a:solidFill>
                <a:latin typeface="Calibri"/>
              </a:rPr>
              <a:t>•  Synthesis, limitations &amp;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Motivation &amp; Research Question</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1 · Literature</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3</a:t>
            </a:r>
          </a:p>
        </p:txBody>
      </p:sp>
      <p:sp>
        <p:nvSpPr>
          <p:cNvPr id="8" name="TextBox 7"/>
          <p:cNvSpPr txBox="1"/>
          <p:nvPr/>
        </p:nvSpPr>
        <p:spPr>
          <a:xfrm>
            <a:off x="640080" y="1371600"/>
            <a:ext cx="10972800" cy="1463040"/>
          </a:xfrm>
          <a:prstGeom prst="rect">
            <a:avLst/>
          </a:prstGeom>
          <a:noFill/>
        </p:spPr>
        <p:txBody>
          <a:bodyPr wrap="square" anchor="t" lIns="25400" rIns="25400" tIns="12700" bIns="12700">
            <a:spAutoFit/>
          </a:bodyPr>
          <a:lstStyle/>
          <a:p>
            <a:pPr algn="l">
              <a:spcAft>
                <a:spcPts val="800"/>
              </a:spcAft>
            </a:pPr>
            <a:r>
              <a:rPr sz="1800" b="0" i="0">
                <a:solidFill>
                  <a:srgbClr val="222222"/>
                </a:solidFill>
                <a:latin typeface="Calibri"/>
              </a:rPr>
              <a:t>Germany is removing firm capacity (nuclear gone, coal exiting) while adding weather-dependent wind and solar. This raises a classic worry: will there be enough controllable power on a cold, dark, windless evening?</a:t>
            </a:r>
          </a:p>
        </p:txBody>
      </p:sp>
      <p:sp>
        <p:nvSpPr>
          <p:cNvPr id="9" name="Rectangle 8"/>
          <p:cNvSpPr/>
          <p:nvPr/>
        </p:nvSpPr>
        <p:spPr>
          <a:xfrm>
            <a:off x="640080" y="2971800"/>
            <a:ext cx="10972800" cy="13716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3063240"/>
            <a:ext cx="10643616" cy="1188720"/>
          </a:xfrm>
          <a:prstGeom prst="rect">
            <a:avLst/>
          </a:prstGeom>
          <a:noFill/>
        </p:spPr>
        <p:txBody>
          <a:bodyPr wrap="square" anchor="t" lIns="25400" rIns="25400" tIns="12700" bIns="12700">
            <a:spAutoFit/>
          </a:bodyPr>
          <a:lstStyle/>
          <a:p>
            <a:pPr algn="l">
              <a:spcAft>
                <a:spcPts val="500"/>
              </a:spcAft>
            </a:pPr>
            <a:r>
              <a:rPr sz="1500" b="1" i="0">
                <a:solidFill>
                  <a:srgbClr val="003560"/>
                </a:solidFill>
                <a:latin typeface="Calibri"/>
              </a:rPr>
              <a:t>The policy under evaluation</a:t>
            </a:r>
          </a:p>
          <a:p>
            <a:pPr algn="l">
              <a:spcAft>
                <a:spcPts val="400"/>
              </a:spcAft>
            </a:pPr>
            <a:r>
              <a:rPr sz="1250" b="0" i="0">
                <a:solidFill>
                  <a:srgbClr val="222222"/>
                </a:solidFill>
                <a:latin typeface="Calibri"/>
              </a:rPr>
              <a:t>•  The Kraftwerksstrategie pays for ~10 GW of new hydrogen-ready gas to guarantee that firm capacity.</a:t>
            </a:r>
          </a:p>
        </p:txBody>
      </p:sp>
      <p:sp>
        <p:nvSpPr>
          <p:cNvPr id="11" name="TextBox 10"/>
          <p:cNvSpPr txBox="1"/>
          <p:nvPr/>
        </p:nvSpPr>
        <p:spPr>
          <a:xfrm>
            <a:off x="640080" y="4617720"/>
            <a:ext cx="10972800" cy="1280160"/>
          </a:xfrm>
          <a:prstGeom prst="rect">
            <a:avLst/>
          </a:prstGeom>
          <a:noFill/>
        </p:spPr>
        <p:txBody>
          <a:bodyPr wrap="square" anchor="ctr" lIns="25400" rIns="25400" tIns="12700" bIns="12700">
            <a:spAutoFit/>
          </a:bodyPr>
          <a:lstStyle/>
          <a:p/>
        </p:txBody>
      </p:sp>
      <p:sp>
        <p:nvSpPr>
          <p:cNvPr id="12" name="Rectangle 11"/>
          <p:cNvSpPr/>
          <p:nvPr/>
        </p:nvSpPr>
        <p:spPr>
          <a:xfrm>
            <a:off x="640080" y="4617720"/>
            <a:ext cx="164592" cy="109728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617720"/>
            <a:ext cx="10515600" cy="1280160"/>
          </a:xfrm>
          <a:prstGeom prst="rect">
            <a:avLst/>
          </a:prstGeom>
          <a:noFill/>
        </p:spPr>
        <p:txBody>
          <a:bodyPr wrap="square" anchor="ctr" lIns="25400" rIns="25400" tIns="12700" bIns="12700">
            <a:spAutoFit/>
          </a:bodyPr>
          <a:lstStyle/>
          <a:p>
            <a:pPr algn="l">
              <a:spcAft>
                <a:spcPts val="300"/>
              </a:spcAft>
            </a:pPr>
            <a:r>
              <a:rPr sz="1400" b="1" i="0">
                <a:solidFill>
                  <a:srgbClr val="8AB71A"/>
                </a:solidFill>
                <a:latin typeface="Calibri"/>
              </a:rPr>
              <a:t>Research question</a:t>
            </a:r>
          </a:p>
          <a:p>
            <a:pPr algn="l">
              <a:spcAft>
                <a:spcPts val="0"/>
              </a:spcAft>
            </a:pPr>
            <a:r>
              <a:rPr sz="1800" b="1" i="0">
                <a:solidFill>
                  <a:srgbClr val="003560"/>
                </a:solidFill>
                <a:latin typeface="Calibri"/>
              </a:rPr>
              <a:t>In 2030, how does adding the Kraftwerksstrategie's firm capacity change Germany's security of supply, electricity prices, gas use and CO₂ emissions?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The German Market &amp; the 2030 Fleet</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1 · Literature</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4</a:t>
            </a:r>
          </a:p>
        </p:txBody>
      </p:sp>
      <p:sp>
        <p:nvSpPr>
          <p:cNvPr id="8" name="Rectangle 7"/>
          <p:cNvSpPr/>
          <p:nvPr/>
        </p:nvSpPr>
        <p:spPr>
          <a:xfrm>
            <a:off x="640080" y="1325880"/>
            <a:ext cx="5349240" cy="45262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417320"/>
            <a:ext cx="5020056" cy="4343400"/>
          </a:xfrm>
          <a:prstGeom prst="rect">
            <a:avLst/>
          </a:prstGeom>
          <a:noFill/>
        </p:spPr>
        <p:txBody>
          <a:bodyPr wrap="square" anchor="t" lIns="25400" rIns="25400" tIns="12700" bIns="12700">
            <a:spAutoFit/>
          </a:bodyPr>
          <a:lstStyle/>
          <a:p>
            <a:pPr algn="l">
              <a:spcAft>
                <a:spcPts val="500"/>
              </a:spcAft>
            </a:pPr>
            <a:r>
              <a:rPr sz="1500" b="1" i="0">
                <a:solidFill>
                  <a:srgbClr val="003560"/>
                </a:solidFill>
                <a:latin typeface="Calibri"/>
              </a:rPr>
              <a:t>Where the system is heading</a:t>
            </a:r>
          </a:p>
          <a:p>
            <a:pPr algn="l">
              <a:spcAft>
                <a:spcPts val="400"/>
              </a:spcAft>
            </a:pPr>
            <a:r>
              <a:rPr sz="1250" b="0" i="0">
                <a:solidFill>
                  <a:srgbClr val="222222"/>
                </a:solidFill>
                <a:latin typeface="Calibri"/>
              </a:rPr>
              <a:t>•  Energy-only market: generators earn only from selling energy, not for being available</a:t>
            </a:r>
          </a:p>
          <a:p>
            <a:pPr algn="l">
              <a:spcAft>
                <a:spcPts val="400"/>
              </a:spcAft>
            </a:pPr>
            <a:r>
              <a:rPr sz="1250" b="0" i="0">
                <a:solidFill>
                  <a:srgbClr val="222222"/>
                </a:solidFill>
                <a:latin typeface="Calibri"/>
              </a:rPr>
              <a:t>•  Nuclear phased out (2023); coal exiting under the KVBG coal-exit law</a:t>
            </a:r>
          </a:p>
          <a:p>
            <a:pPr algn="l">
              <a:spcAft>
                <a:spcPts val="400"/>
              </a:spcAft>
            </a:pPr>
            <a:r>
              <a:rPr sz="1250" b="0" i="0">
                <a:solidFill>
                  <a:srgbClr val="222222"/>
                </a:solidFill>
                <a:latin typeface="Calibri"/>
              </a:rPr>
              <a:t>•  Renewables scaling fast under the EEG 2023 (target: 80% of demand by 2030)</a:t>
            </a:r>
          </a:p>
          <a:p>
            <a:pPr algn="l">
              <a:spcAft>
                <a:spcPts val="400"/>
              </a:spcAft>
            </a:pPr>
            <a:r>
              <a:rPr sz="1250" b="0" i="0">
                <a:solidFill>
                  <a:srgbClr val="222222"/>
                </a:solidFill>
                <a:latin typeface="Calibri"/>
              </a:rPr>
              <a:t>•  Gap on low-wind, low-sun hours must be covered by firm, controllable capacity</a:t>
            </a:r>
          </a:p>
          <a:p>
            <a:pPr algn="l">
              <a:spcAft>
                <a:spcPts val="400"/>
              </a:spcAft>
            </a:pPr>
            <a:r>
              <a:rPr sz="1250" b="0" i="0">
                <a:solidFill>
                  <a:srgbClr val="222222"/>
                </a:solidFill>
                <a:latin typeface="Calibri"/>
              </a:rPr>
              <a:t>•  Concern: the “missing-money” problem may under-reward new firm plants</a:t>
            </a:r>
          </a:p>
        </p:txBody>
      </p:sp>
      <p:sp>
        <p:nvSpPr>
          <p:cNvPr id="10" name="Rectangle 9"/>
          <p:cNvSpPr/>
          <p:nvPr/>
        </p:nvSpPr>
        <p:spPr>
          <a:xfrm>
            <a:off x="6217920" y="1325880"/>
            <a:ext cx="5349240" cy="4526280"/>
          </a:xfrm>
          <a:prstGeom prst="rect">
            <a:avLst/>
          </a:prstGeom>
          <a:solidFill>
            <a:srgbClr val="EC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417320"/>
            <a:ext cx="5020056" cy="4343400"/>
          </a:xfrm>
          <a:prstGeom prst="rect">
            <a:avLst/>
          </a:prstGeom>
          <a:noFill/>
        </p:spPr>
        <p:txBody>
          <a:bodyPr wrap="square" anchor="t" lIns="25400" rIns="25400" tIns="12700" bIns="12700">
            <a:spAutoFit/>
          </a:bodyPr>
          <a:lstStyle/>
          <a:p>
            <a:pPr algn="l">
              <a:spcAft>
                <a:spcPts val="500"/>
              </a:spcAft>
            </a:pPr>
            <a:r>
              <a:rPr sz="1500" b="1" i="0">
                <a:solidFill>
                  <a:srgbClr val="4D6B0F"/>
                </a:solidFill>
                <a:latin typeface="Calibri"/>
              </a:rPr>
              <a:t>Planned 2030 capacity (official targets)</a:t>
            </a:r>
          </a:p>
          <a:p>
            <a:pPr algn="l">
              <a:spcAft>
                <a:spcPts val="400"/>
              </a:spcAft>
            </a:pPr>
            <a:r>
              <a:rPr sz="1250" b="0" i="0">
                <a:solidFill>
                  <a:srgbClr val="222222"/>
                </a:solidFill>
                <a:latin typeface="Calibri"/>
              </a:rPr>
              <a:t>•  Solar PV: 215 GW  (EEG 2023)</a:t>
            </a:r>
          </a:p>
          <a:p>
            <a:pPr algn="l">
              <a:spcAft>
                <a:spcPts val="400"/>
              </a:spcAft>
            </a:pPr>
            <a:r>
              <a:rPr sz="1250" b="0" i="0">
                <a:solidFill>
                  <a:srgbClr val="222222"/>
                </a:solidFill>
                <a:latin typeface="Calibri"/>
              </a:rPr>
              <a:t>•  Wind onshore / offshore: 115 / 30 GW  (EEG 2023)</a:t>
            </a:r>
          </a:p>
          <a:p>
            <a:pPr algn="l">
              <a:spcAft>
                <a:spcPts val="400"/>
              </a:spcAft>
            </a:pPr>
            <a:r>
              <a:rPr sz="1250" b="0" i="0">
                <a:solidFill>
                  <a:srgbClr val="222222"/>
                </a:solidFill>
                <a:latin typeface="Calibri"/>
              </a:rPr>
              <a:t>•  Lignite / hard coal: 9 / 8 GW  (KVBG ceiling)</a:t>
            </a:r>
          </a:p>
          <a:p>
            <a:pPr algn="l">
              <a:spcAft>
                <a:spcPts val="400"/>
              </a:spcAft>
            </a:pPr>
            <a:r>
              <a:rPr sz="1250" b="0" i="0">
                <a:solidFill>
                  <a:srgbClr val="222222"/>
                </a:solidFill>
                <a:latin typeface="Calibri"/>
              </a:rPr>
              <a:t>•  Existing gas (CCGT + OCGT): 20 + 14 GW</a:t>
            </a:r>
          </a:p>
          <a:p>
            <a:pPr algn="l">
              <a:spcAft>
                <a:spcPts val="400"/>
              </a:spcAft>
            </a:pPr>
            <a:r>
              <a:rPr sz="1250" b="0" i="0">
                <a:solidFill>
                  <a:srgbClr val="222222"/>
                </a:solidFill>
                <a:latin typeface="Calibri"/>
              </a:rPr>
              <a:t>•  Storage (battery + pumped-hydro): 25 + 9.4 GW  (NEP)</a:t>
            </a:r>
          </a:p>
          <a:p>
            <a:pPr algn="l">
              <a:spcAft>
                <a:spcPts val="400"/>
              </a:spcAft>
            </a:pPr>
            <a:r>
              <a:rPr sz="1250" b="0" i="0">
                <a:solidFill>
                  <a:srgbClr val="222222"/>
                </a:solidFill>
                <a:latin typeface="Calibri"/>
              </a:rPr>
              <a:t>•  + Policy: 10 GW new H₂-ready gas (Scenario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The Kraftwerksstrategie — What Is Planned</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1 · Literature</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5</a:t>
            </a:r>
          </a:p>
        </p:txBody>
      </p:sp>
      <p:sp>
        <p:nvSpPr>
          <p:cNvPr id="8" name="Rectangle 7"/>
          <p:cNvSpPr/>
          <p:nvPr/>
        </p:nvSpPr>
        <p:spPr>
          <a:xfrm>
            <a:off x="502920" y="1874519"/>
            <a:ext cx="1993392" cy="45720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874519"/>
            <a:ext cx="1993392" cy="457200"/>
          </a:xfrm>
          <a:prstGeom prst="rect">
            <a:avLst/>
          </a:prstGeom>
          <a:noFill/>
        </p:spPr>
        <p:txBody>
          <a:bodyPr wrap="square" anchor="ctr" lIns="25400" rIns="25400" tIns="12700" bIns="12700">
            <a:spAutoFit/>
          </a:bodyPr>
          <a:lstStyle/>
          <a:p>
            <a:pPr algn="ctr">
              <a:spcAft>
                <a:spcPts val="0"/>
              </a:spcAft>
            </a:pPr>
            <a:r>
              <a:rPr sz="1500" b="1" i="0">
                <a:solidFill>
                  <a:srgbClr val="FFFFFF"/>
                </a:solidFill>
                <a:latin typeface="Calibri"/>
              </a:rPr>
              <a:t>Feb 2024</a:t>
            </a:r>
          </a:p>
        </p:txBody>
      </p:sp>
      <p:sp>
        <p:nvSpPr>
          <p:cNvPr id="10" name="Rectangle 9"/>
          <p:cNvSpPr/>
          <p:nvPr/>
        </p:nvSpPr>
        <p:spPr>
          <a:xfrm>
            <a:off x="502920" y="2331719"/>
            <a:ext cx="1993392" cy="96012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377439"/>
            <a:ext cx="1993392" cy="914400"/>
          </a:xfrm>
          <a:prstGeom prst="rect">
            <a:avLst/>
          </a:prstGeom>
          <a:noFill/>
        </p:spPr>
        <p:txBody>
          <a:bodyPr wrap="square" anchor="ctr" lIns="25400" rIns="25400" tIns="12700" bIns="12700">
            <a:spAutoFit/>
          </a:bodyPr>
          <a:lstStyle/>
          <a:p>
            <a:pPr algn="ctr">
              <a:spcAft>
                <a:spcPts val="100"/>
              </a:spcAft>
            </a:pPr>
            <a:r>
              <a:rPr sz="1300" b="0" i="0">
                <a:solidFill>
                  <a:srgbClr val="222222"/>
                </a:solidFill>
                <a:latin typeface="Calibri"/>
              </a:rPr>
              <a:t>Initial strategy</a:t>
            </a:r>
          </a:p>
          <a:p>
            <a:pPr algn="ctr">
              <a:spcAft>
                <a:spcPts val="100"/>
              </a:spcAft>
            </a:pPr>
            <a:r>
              <a:rPr sz="1300" b="0" i="0">
                <a:solidFill>
                  <a:srgbClr val="222222"/>
                </a:solidFill>
                <a:latin typeface="Calibri"/>
              </a:rPr>
              <a:t>agreed (draft)</a:t>
            </a:r>
          </a:p>
        </p:txBody>
      </p:sp>
      <p:sp>
        <p:nvSpPr>
          <p:cNvPr id="12" name="Right Arrow 11"/>
          <p:cNvSpPr/>
          <p:nvPr/>
        </p:nvSpPr>
        <p:spPr>
          <a:xfrm>
            <a:off x="2509012" y="2285999"/>
            <a:ext cx="248920" cy="457200"/>
          </a:xfrm>
          <a:prstGeom prst="rightArrow">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0632" y="1874519"/>
            <a:ext cx="1993392" cy="45720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0632" y="1874519"/>
            <a:ext cx="1993392" cy="457200"/>
          </a:xfrm>
          <a:prstGeom prst="rect">
            <a:avLst/>
          </a:prstGeom>
          <a:noFill/>
        </p:spPr>
        <p:txBody>
          <a:bodyPr wrap="square" anchor="ctr" lIns="25400" rIns="25400" tIns="12700" bIns="12700">
            <a:spAutoFit/>
          </a:bodyPr>
          <a:lstStyle/>
          <a:p>
            <a:pPr algn="ctr">
              <a:spcAft>
                <a:spcPts val="0"/>
              </a:spcAft>
            </a:pPr>
            <a:r>
              <a:rPr sz="1500" b="1" i="0">
                <a:solidFill>
                  <a:srgbClr val="FFFFFF"/>
                </a:solidFill>
                <a:latin typeface="Calibri"/>
              </a:rPr>
              <a:t>15 Jan 2026</a:t>
            </a:r>
          </a:p>
        </p:txBody>
      </p:sp>
      <p:sp>
        <p:nvSpPr>
          <p:cNvPr id="15" name="Rectangle 14"/>
          <p:cNvSpPr/>
          <p:nvPr/>
        </p:nvSpPr>
        <p:spPr>
          <a:xfrm>
            <a:off x="2770632" y="2331719"/>
            <a:ext cx="1993392" cy="96012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70632" y="2377439"/>
            <a:ext cx="1993392" cy="914400"/>
          </a:xfrm>
          <a:prstGeom prst="rect">
            <a:avLst/>
          </a:prstGeom>
          <a:noFill/>
        </p:spPr>
        <p:txBody>
          <a:bodyPr wrap="square" anchor="ctr" lIns="25400" rIns="25400" tIns="12700" bIns="12700">
            <a:spAutoFit/>
          </a:bodyPr>
          <a:lstStyle/>
          <a:p>
            <a:pPr algn="ctr">
              <a:spcAft>
                <a:spcPts val="100"/>
              </a:spcAft>
            </a:pPr>
            <a:r>
              <a:rPr sz="1300" b="0" i="0">
                <a:solidFill>
                  <a:srgbClr val="222222"/>
                </a:solidFill>
                <a:latin typeface="Calibri"/>
              </a:rPr>
              <a:t>Agreement with</a:t>
            </a:r>
          </a:p>
          <a:p>
            <a:pPr algn="ctr">
              <a:spcAft>
                <a:spcPts val="100"/>
              </a:spcAft>
            </a:pPr>
            <a:r>
              <a:rPr sz="1300" b="0" i="0">
                <a:solidFill>
                  <a:srgbClr val="222222"/>
                </a:solidFill>
                <a:latin typeface="Calibri"/>
              </a:rPr>
              <a:t>EU Commission</a:t>
            </a:r>
          </a:p>
        </p:txBody>
      </p:sp>
      <p:sp>
        <p:nvSpPr>
          <p:cNvPr id="17" name="Right Arrow 16"/>
          <p:cNvSpPr/>
          <p:nvPr/>
        </p:nvSpPr>
        <p:spPr>
          <a:xfrm>
            <a:off x="4776724" y="2285999"/>
            <a:ext cx="248920" cy="457200"/>
          </a:xfrm>
          <a:prstGeom prst="rightArrow">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38344" y="1874519"/>
            <a:ext cx="1993392" cy="45720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8344" y="1874519"/>
            <a:ext cx="1993392" cy="457200"/>
          </a:xfrm>
          <a:prstGeom prst="rect">
            <a:avLst/>
          </a:prstGeom>
          <a:noFill/>
        </p:spPr>
        <p:txBody>
          <a:bodyPr wrap="square" anchor="ctr" lIns="25400" rIns="25400" tIns="12700" bIns="12700">
            <a:spAutoFit/>
          </a:bodyPr>
          <a:lstStyle/>
          <a:p>
            <a:pPr algn="ctr">
              <a:spcAft>
                <a:spcPts val="0"/>
              </a:spcAft>
            </a:pPr>
            <a:r>
              <a:rPr sz="1500" b="1" i="0">
                <a:solidFill>
                  <a:srgbClr val="FFFFFF"/>
                </a:solidFill>
                <a:latin typeface="Calibri"/>
              </a:rPr>
              <a:t>2026</a:t>
            </a:r>
          </a:p>
        </p:txBody>
      </p:sp>
      <p:sp>
        <p:nvSpPr>
          <p:cNvPr id="20" name="Rectangle 19"/>
          <p:cNvSpPr/>
          <p:nvPr/>
        </p:nvSpPr>
        <p:spPr>
          <a:xfrm>
            <a:off x="5038344" y="2331719"/>
            <a:ext cx="1993392" cy="96012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38344" y="2377439"/>
            <a:ext cx="1993392" cy="914400"/>
          </a:xfrm>
          <a:prstGeom prst="rect">
            <a:avLst/>
          </a:prstGeom>
          <a:noFill/>
        </p:spPr>
        <p:txBody>
          <a:bodyPr wrap="square" anchor="ctr" lIns="25400" rIns="25400" tIns="12700" bIns="12700">
            <a:spAutoFit/>
          </a:bodyPr>
          <a:lstStyle/>
          <a:p>
            <a:pPr algn="ctr">
              <a:spcAft>
                <a:spcPts val="100"/>
              </a:spcAft>
            </a:pPr>
            <a:r>
              <a:rPr sz="1300" b="0" i="0">
                <a:solidFill>
                  <a:srgbClr val="222222"/>
                </a:solidFill>
                <a:latin typeface="Calibri"/>
              </a:rPr>
              <a:t>Tender 12 GW</a:t>
            </a:r>
          </a:p>
          <a:p>
            <a:pPr algn="ctr">
              <a:spcAft>
                <a:spcPts val="100"/>
              </a:spcAft>
            </a:pPr>
            <a:r>
              <a:rPr sz="1300" b="0" i="0">
                <a:solidFill>
                  <a:srgbClr val="222222"/>
                </a:solidFill>
                <a:latin typeface="Calibri"/>
              </a:rPr>
              <a:t>(10 GW long-run gas)</a:t>
            </a:r>
          </a:p>
        </p:txBody>
      </p:sp>
      <p:sp>
        <p:nvSpPr>
          <p:cNvPr id="22" name="Right Arrow 21"/>
          <p:cNvSpPr/>
          <p:nvPr/>
        </p:nvSpPr>
        <p:spPr>
          <a:xfrm>
            <a:off x="7044436" y="2285999"/>
            <a:ext cx="248920" cy="457200"/>
          </a:xfrm>
          <a:prstGeom prst="rightArrow">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06056" y="1874519"/>
            <a:ext cx="1993392" cy="45720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06056" y="1874519"/>
            <a:ext cx="1993392" cy="457200"/>
          </a:xfrm>
          <a:prstGeom prst="rect">
            <a:avLst/>
          </a:prstGeom>
          <a:noFill/>
        </p:spPr>
        <p:txBody>
          <a:bodyPr wrap="square" anchor="ctr" lIns="25400" rIns="25400" tIns="12700" bIns="12700">
            <a:spAutoFit/>
          </a:bodyPr>
          <a:lstStyle/>
          <a:p>
            <a:pPr algn="ctr">
              <a:spcAft>
                <a:spcPts val="0"/>
              </a:spcAft>
            </a:pPr>
            <a:r>
              <a:rPr sz="1500" b="1" i="0">
                <a:solidFill>
                  <a:srgbClr val="FFFFFF"/>
                </a:solidFill>
                <a:latin typeface="Calibri"/>
              </a:rPr>
              <a:t>by 2031</a:t>
            </a:r>
          </a:p>
        </p:txBody>
      </p:sp>
      <p:sp>
        <p:nvSpPr>
          <p:cNvPr id="25" name="Rectangle 24"/>
          <p:cNvSpPr/>
          <p:nvPr/>
        </p:nvSpPr>
        <p:spPr>
          <a:xfrm>
            <a:off x="7306056" y="2331719"/>
            <a:ext cx="1993392" cy="96012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06056" y="2377439"/>
            <a:ext cx="1993392" cy="914400"/>
          </a:xfrm>
          <a:prstGeom prst="rect">
            <a:avLst/>
          </a:prstGeom>
          <a:noFill/>
        </p:spPr>
        <p:txBody>
          <a:bodyPr wrap="square" anchor="ctr" lIns="25400" rIns="25400" tIns="12700" bIns="12700">
            <a:spAutoFit/>
          </a:bodyPr>
          <a:lstStyle/>
          <a:p>
            <a:pPr algn="ctr">
              <a:spcAft>
                <a:spcPts val="100"/>
              </a:spcAft>
            </a:pPr>
            <a:r>
              <a:rPr sz="1300" b="0" i="0">
                <a:solidFill>
                  <a:srgbClr val="222222"/>
                </a:solidFill>
                <a:latin typeface="Calibri"/>
              </a:rPr>
              <a:t>New plants enter</a:t>
            </a:r>
          </a:p>
          <a:p>
            <a:pPr algn="ctr">
              <a:spcAft>
                <a:spcPts val="100"/>
              </a:spcAft>
            </a:pPr>
            <a:r>
              <a:rPr sz="1300" b="0" i="0">
                <a:solidFill>
                  <a:srgbClr val="222222"/>
                </a:solidFill>
                <a:latin typeface="Calibri"/>
              </a:rPr>
              <a:t>operation</a:t>
            </a:r>
          </a:p>
        </p:txBody>
      </p:sp>
      <p:sp>
        <p:nvSpPr>
          <p:cNvPr id="27" name="Right Arrow 26"/>
          <p:cNvSpPr/>
          <p:nvPr/>
        </p:nvSpPr>
        <p:spPr>
          <a:xfrm>
            <a:off x="9312148" y="2285999"/>
            <a:ext cx="248920" cy="457200"/>
          </a:xfrm>
          <a:prstGeom prst="rightArrow">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73768" y="1874519"/>
            <a:ext cx="1993392" cy="45720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73768" y="1874519"/>
            <a:ext cx="1993392" cy="457200"/>
          </a:xfrm>
          <a:prstGeom prst="rect">
            <a:avLst/>
          </a:prstGeom>
          <a:noFill/>
        </p:spPr>
        <p:txBody>
          <a:bodyPr wrap="square" anchor="ctr" lIns="25400" rIns="25400" tIns="12700" bIns="12700">
            <a:spAutoFit/>
          </a:bodyPr>
          <a:lstStyle/>
          <a:p>
            <a:pPr algn="ctr">
              <a:spcAft>
                <a:spcPts val="0"/>
              </a:spcAft>
            </a:pPr>
            <a:r>
              <a:rPr sz="1500" b="1" i="0">
                <a:solidFill>
                  <a:srgbClr val="FFFFFF"/>
                </a:solidFill>
                <a:latin typeface="Calibri"/>
              </a:rPr>
              <a:t>2032 → 2045</a:t>
            </a:r>
          </a:p>
        </p:txBody>
      </p:sp>
      <p:sp>
        <p:nvSpPr>
          <p:cNvPr id="30" name="Rectangle 29"/>
          <p:cNvSpPr/>
          <p:nvPr/>
        </p:nvSpPr>
        <p:spPr>
          <a:xfrm>
            <a:off x="9573768" y="2331719"/>
            <a:ext cx="1993392" cy="96012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73768" y="2377439"/>
            <a:ext cx="1993392" cy="914400"/>
          </a:xfrm>
          <a:prstGeom prst="rect">
            <a:avLst/>
          </a:prstGeom>
          <a:noFill/>
        </p:spPr>
        <p:txBody>
          <a:bodyPr wrap="square" anchor="ctr" lIns="25400" rIns="25400" tIns="12700" bIns="12700">
            <a:spAutoFit/>
          </a:bodyPr>
          <a:lstStyle/>
          <a:p>
            <a:pPr algn="ctr">
              <a:spcAft>
                <a:spcPts val="100"/>
              </a:spcAft>
            </a:pPr>
            <a:r>
              <a:rPr sz="1300" b="0" i="0">
                <a:solidFill>
                  <a:srgbClr val="222222"/>
                </a:solidFill>
                <a:latin typeface="Calibri"/>
              </a:rPr>
              <a:t>Capacity market;</a:t>
            </a:r>
          </a:p>
          <a:p>
            <a:pPr algn="ctr">
              <a:spcAft>
                <a:spcPts val="100"/>
              </a:spcAft>
            </a:pPr>
            <a:r>
              <a:rPr sz="1300" b="0" i="0">
                <a:solidFill>
                  <a:srgbClr val="222222"/>
                </a:solidFill>
                <a:latin typeface="Calibri"/>
              </a:rPr>
              <a:t>full H2 by 2045</a:t>
            </a:r>
          </a:p>
        </p:txBody>
      </p:sp>
      <p:sp>
        <p:nvSpPr>
          <p:cNvPr id="32" name="Rectangle 31"/>
          <p:cNvSpPr/>
          <p:nvPr/>
        </p:nvSpPr>
        <p:spPr>
          <a:xfrm>
            <a:off x="502920" y="3703320"/>
            <a:ext cx="11155680" cy="20574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3794760"/>
            <a:ext cx="10826496" cy="1874520"/>
          </a:xfrm>
          <a:prstGeom prst="rect">
            <a:avLst/>
          </a:prstGeom>
          <a:noFill/>
        </p:spPr>
        <p:txBody>
          <a:bodyPr wrap="square" anchor="t" lIns="25400" rIns="25400" tIns="12700" bIns="12700">
            <a:spAutoFit/>
          </a:bodyPr>
          <a:lstStyle/>
          <a:p>
            <a:pPr algn="l">
              <a:spcAft>
                <a:spcPts val="500"/>
              </a:spcAft>
            </a:pPr>
            <a:r>
              <a:rPr sz="1500" b="1" i="0">
                <a:solidFill>
                  <a:srgbClr val="003560"/>
                </a:solidFill>
                <a:latin typeface="Calibri"/>
              </a:rPr>
              <a:t>Key facts (BMWE, 15 January 2026)</a:t>
            </a:r>
          </a:p>
          <a:p>
            <a:pPr algn="l">
              <a:spcAft>
                <a:spcPts val="400"/>
              </a:spcAft>
            </a:pPr>
            <a:r>
              <a:rPr sz="1250" b="0" i="0">
                <a:solidFill>
                  <a:srgbClr val="222222"/>
                </a:solidFill>
                <a:latin typeface="Calibri"/>
              </a:rPr>
              <a:t>•  12 GW of new controllable capacity tendered in 2026; 10 GW carry a long-running criterion (efficient gas)</a:t>
            </a:r>
          </a:p>
          <a:p>
            <a:pPr algn="l">
              <a:spcAft>
                <a:spcPts val="400"/>
              </a:spcAft>
            </a:pPr>
            <a:r>
              <a:rPr sz="1250" b="0" i="0">
                <a:solidFill>
                  <a:srgbClr val="222222"/>
                </a:solidFill>
                <a:latin typeface="Calibri"/>
              </a:rPr>
              <a:t>•  All plants hydrogen-ready and fully decarbonised by 2045; early-conversion incentives</a:t>
            </a:r>
          </a:p>
          <a:p>
            <a:pPr algn="l">
              <a:spcAft>
                <a:spcPts val="400"/>
              </a:spcAft>
            </a:pPr>
            <a:r>
              <a:rPr sz="1250" b="0" i="0">
                <a:solidFill>
                  <a:srgbClr val="222222"/>
                </a:solidFill>
                <a:latin typeface="Calibri"/>
              </a:rPr>
              <a:t>•  Followed by a comprehensive, technology-open capacity market introduced in 2027 and operating from 2032</a:t>
            </a:r>
          </a:p>
          <a:p>
            <a:pPr algn="l">
              <a:spcAft>
                <a:spcPts val="400"/>
              </a:spcAft>
            </a:pPr>
            <a:r>
              <a:rPr sz="1250" b="0" i="0">
                <a:solidFill>
                  <a:srgbClr val="222222"/>
                </a:solidFill>
                <a:latin typeface="Calibri"/>
              </a:rPr>
              <a:t>•  Support is paid for availability via auction (not for energy) → a capacity remuneration mechanism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Capacity Mechanisms — A Taxonomy</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1 · Literature</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6</a:t>
            </a:r>
          </a:p>
        </p:txBody>
      </p:sp>
      <p:sp>
        <p:nvSpPr>
          <p:cNvPr id="8" name="TextBox 7"/>
          <p:cNvSpPr txBox="1"/>
          <p:nvPr/>
        </p:nvSpPr>
        <p:spPr>
          <a:xfrm>
            <a:off x="640080" y="1188720"/>
            <a:ext cx="10881360" cy="548640"/>
          </a:xfrm>
          <a:prstGeom prst="rect">
            <a:avLst/>
          </a:prstGeom>
          <a:noFill/>
        </p:spPr>
        <p:txBody>
          <a:bodyPr wrap="square" anchor="t" lIns="25400" rIns="25400" tIns="12700" bIns="12700">
            <a:spAutoFit/>
          </a:bodyPr>
          <a:lstStyle/>
          <a:p>
            <a:pPr algn="l">
              <a:spcAft>
                <a:spcPts val="0"/>
              </a:spcAft>
            </a:pPr>
            <a:r>
              <a:rPr sz="1500" b="0" i="1">
                <a:solidFill>
                  <a:srgbClr val="666666"/>
                </a:solidFill>
                <a:latin typeface="Calibri"/>
              </a:rPr>
              <a:t>Two axes: TARGETED vs MARKET-WIDE, and price-based vs quantity-based (a volume is set, an auction finds the price).</a:t>
            </a:r>
          </a:p>
        </p:txBody>
      </p:sp>
      <p:sp>
        <p:nvSpPr>
          <p:cNvPr id="9" name="Rectangle 8"/>
          <p:cNvSpPr/>
          <p:nvPr/>
        </p:nvSpPr>
        <p:spPr>
          <a:xfrm>
            <a:off x="640080" y="1828800"/>
            <a:ext cx="5303520" cy="5029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28800"/>
            <a:ext cx="5303520" cy="502920"/>
          </a:xfrm>
          <a:prstGeom prst="rect">
            <a:avLst/>
          </a:prstGeom>
          <a:noFill/>
        </p:spPr>
        <p:txBody>
          <a:bodyPr wrap="square" anchor="ctr" lIns="25400" rIns="25400" tIns="12700" bIns="12700">
            <a:spAutoFit/>
          </a:bodyPr>
          <a:lstStyle/>
          <a:p>
            <a:pPr algn="ctr">
              <a:spcAft>
                <a:spcPts val="0"/>
              </a:spcAft>
            </a:pPr>
            <a:r>
              <a:rPr sz="1600" b="1" i="0">
                <a:solidFill>
                  <a:srgbClr val="FFFFFF"/>
                </a:solidFill>
                <a:latin typeface="Calibri"/>
              </a:rPr>
              <a:t>TARGETED</a:t>
            </a:r>
          </a:p>
        </p:txBody>
      </p:sp>
      <p:sp>
        <p:nvSpPr>
          <p:cNvPr id="11" name="Rectangle 10"/>
          <p:cNvSpPr/>
          <p:nvPr/>
        </p:nvSpPr>
        <p:spPr>
          <a:xfrm>
            <a:off x="6263640" y="1828800"/>
            <a:ext cx="5303520" cy="5029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828800"/>
            <a:ext cx="5303520" cy="502920"/>
          </a:xfrm>
          <a:prstGeom prst="rect">
            <a:avLst/>
          </a:prstGeom>
          <a:noFill/>
        </p:spPr>
        <p:txBody>
          <a:bodyPr wrap="square" anchor="ctr" lIns="25400" rIns="25400" tIns="12700" bIns="12700">
            <a:spAutoFit/>
          </a:bodyPr>
          <a:lstStyle/>
          <a:p>
            <a:pPr algn="ctr">
              <a:spcAft>
                <a:spcPts val="0"/>
              </a:spcAft>
            </a:pPr>
            <a:r>
              <a:rPr sz="1600" b="1" i="0">
                <a:solidFill>
                  <a:srgbClr val="FFFFFF"/>
                </a:solidFill>
                <a:latin typeface="Calibri"/>
              </a:rPr>
              <a:t>MARKET-WIDE</a:t>
            </a:r>
          </a:p>
        </p:txBody>
      </p:sp>
      <p:sp>
        <p:nvSpPr>
          <p:cNvPr id="13" name="Rectangle 12"/>
          <p:cNvSpPr/>
          <p:nvPr/>
        </p:nvSpPr>
        <p:spPr>
          <a:xfrm>
            <a:off x="640080" y="2468880"/>
            <a:ext cx="5303520" cy="86868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6280" y="2532380"/>
            <a:ext cx="5151120" cy="77724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Strategic reserve</a:t>
            </a:r>
          </a:p>
          <a:p>
            <a:pPr algn="l">
              <a:spcAft>
                <a:spcPts val="0"/>
              </a:spcAft>
            </a:pPr>
            <a:r>
              <a:rPr sz="1150" b="0" i="0">
                <a:solidFill>
                  <a:srgbClr val="666666"/>
                </a:solidFill>
                <a:latin typeface="Calibri"/>
              </a:rPr>
              <a:t>Quantity-based · held outside the market (DE, SE, FI)</a:t>
            </a:r>
          </a:p>
        </p:txBody>
      </p:sp>
      <p:sp>
        <p:nvSpPr>
          <p:cNvPr id="15" name="Rectangle 14"/>
          <p:cNvSpPr/>
          <p:nvPr/>
        </p:nvSpPr>
        <p:spPr>
          <a:xfrm>
            <a:off x="640080" y="3474720"/>
            <a:ext cx="5303520" cy="868680"/>
          </a:xfrm>
          <a:prstGeom prst="rect">
            <a:avLst/>
          </a:prstGeom>
          <a:solidFill>
            <a:srgbClr val="ECF3DF"/>
          </a:solidFill>
          <a:ln w="12700">
            <a:solidFill>
              <a:srgbClr val="8AB7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6280" y="3538220"/>
            <a:ext cx="5151120" cy="777240"/>
          </a:xfrm>
          <a:prstGeom prst="rect">
            <a:avLst/>
          </a:prstGeom>
          <a:noFill/>
        </p:spPr>
        <p:txBody>
          <a:bodyPr wrap="square" anchor="ctr" lIns="25400" rIns="25400" tIns="12700" bIns="12700">
            <a:spAutoFit/>
          </a:bodyPr>
          <a:lstStyle/>
          <a:p>
            <a:pPr algn="l">
              <a:spcAft>
                <a:spcPts val="100"/>
              </a:spcAft>
            </a:pPr>
            <a:r>
              <a:rPr sz="1450" b="1" i="0">
                <a:solidFill>
                  <a:srgbClr val="4D6B0F"/>
                </a:solidFill>
                <a:latin typeface="Calibri"/>
              </a:rPr>
              <a:t>Tender for new capacity</a:t>
            </a:r>
          </a:p>
          <a:p>
            <a:pPr algn="l">
              <a:spcAft>
                <a:spcPts val="0"/>
              </a:spcAft>
            </a:pPr>
            <a:r>
              <a:rPr sz="1150" b="0" i="0">
                <a:solidFill>
                  <a:srgbClr val="666666"/>
                </a:solidFill>
                <a:latin typeface="Calibri"/>
              </a:rPr>
              <a:t>Quantity-based · auction for specific new plant</a:t>
            </a:r>
          </a:p>
        </p:txBody>
      </p:sp>
      <p:sp>
        <p:nvSpPr>
          <p:cNvPr id="17" name="Rectangle 16"/>
          <p:cNvSpPr/>
          <p:nvPr/>
        </p:nvSpPr>
        <p:spPr>
          <a:xfrm>
            <a:off x="6263640" y="2468880"/>
            <a:ext cx="5303520" cy="86868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9840" y="2532380"/>
            <a:ext cx="5151120" cy="77724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Capacity payment</a:t>
            </a:r>
          </a:p>
          <a:p>
            <a:pPr algn="l">
              <a:spcAft>
                <a:spcPts val="0"/>
              </a:spcAft>
            </a:pPr>
            <a:r>
              <a:rPr sz="1150" b="0" i="0">
                <a:solidFill>
                  <a:srgbClr val="666666"/>
                </a:solidFill>
                <a:latin typeface="Calibri"/>
              </a:rPr>
              <a:t>Price-based · fixed €/MW to all (Spain, hist.)</a:t>
            </a:r>
          </a:p>
        </p:txBody>
      </p:sp>
      <p:sp>
        <p:nvSpPr>
          <p:cNvPr id="19" name="Rectangle 18"/>
          <p:cNvSpPr/>
          <p:nvPr/>
        </p:nvSpPr>
        <p:spPr>
          <a:xfrm>
            <a:off x="6263640" y="3474720"/>
            <a:ext cx="5303520" cy="86868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9840" y="3538220"/>
            <a:ext cx="5151120" cy="77724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Central-buyer capacity market</a:t>
            </a:r>
          </a:p>
          <a:p>
            <a:pPr algn="l">
              <a:spcAft>
                <a:spcPts val="0"/>
              </a:spcAft>
            </a:pPr>
            <a:r>
              <a:rPr sz="1150" b="0" i="0">
                <a:solidFill>
                  <a:srgbClr val="666666"/>
                </a:solidFill>
                <a:latin typeface="Calibri"/>
              </a:rPr>
              <a:t>Quantity-based · auction (GB, PL, IE)</a:t>
            </a:r>
          </a:p>
        </p:txBody>
      </p:sp>
      <p:sp>
        <p:nvSpPr>
          <p:cNvPr id="21" name="Rectangle 20"/>
          <p:cNvSpPr/>
          <p:nvPr/>
        </p:nvSpPr>
        <p:spPr>
          <a:xfrm>
            <a:off x="6263640" y="4480560"/>
            <a:ext cx="2560320" cy="86868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9840" y="4544060"/>
            <a:ext cx="2407920" cy="77724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Capacity obligation</a:t>
            </a:r>
          </a:p>
          <a:p>
            <a:pPr algn="l">
              <a:spcAft>
                <a:spcPts val="0"/>
              </a:spcAft>
            </a:pPr>
            <a:r>
              <a:rPr sz="1150" b="0" i="0">
                <a:solidFill>
                  <a:srgbClr val="666666"/>
                </a:solidFill>
                <a:latin typeface="Calibri"/>
              </a:rPr>
              <a:t>On suppliers (FR)</a:t>
            </a:r>
          </a:p>
        </p:txBody>
      </p:sp>
      <p:sp>
        <p:nvSpPr>
          <p:cNvPr id="23" name="Rectangle 22"/>
          <p:cNvSpPr/>
          <p:nvPr/>
        </p:nvSpPr>
        <p:spPr>
          <a:xfrm>
            <a:off x="9006840" y="4480560"/>
            <a:ext cx="2560320" cy="86868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83040" y="4544060"/>
            <a:ext cx="2407920" cy="77724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Reliability options</a:t>
            </a:r>
          </a:p>
          <a:p>
            <a:pPr algn="l">
              <a:spcAft>
                <a:spcPts val="0"/>
              </a:spcAft>
            </a:pPr>
            <a:r>
              <a:rPr sz="1150" b="0" i="0">
                <a:solidFill>
                  <a:srgbClr val="666666"/>
                </a:solidFill>
                <a:latin typeface="Calibri"/>
              </a:rPr>
              <a:t>+ refund above strike (IT, IE)</a:t>
            </a:r>
          </a:p>
        </p:txBody>
      </p:sp>
      <p:sp>
        <p:nvSpPr>
          <p:cNvPr id="25" name="TextBox 24"/>
          <p:cNvSpPr txBox="1"/>
          <p:nvPr/>
        </p:nvSpPr>
        <p:spPr>
          <a:xfrm>
            <a:off x="640080" y="5532120"/>
            <a:ext cx="10881360" cy="548640"/>
          </a:xfrm>
          <a:prstGeom prst="rect">
            <a:avLst/>
          </a:prstGeom>
          <a:noFill/>
        </p:spPr>
        <p:txBody>
          <a:bodyPr wrap="square" anchor="t" lIns="25400" rIns="25400" tIns="12700" bIns="12700">
            <a:spAutoFit/>
          </a:bodyPr>
          <a:lstStyle/>
          <a:p>
            <a:pPr algn="l">
              <a:spcAft>
                <a:spcPts val="0"/>
              </a:spcAft>
            </a:pPr>
            <a:r>
              <a:rPr sz="1250" b="1" i="0">
                <a:solidFill>
                  <a:srgbClr val="8AB71A"/>
                </a:solidFill>
                <a:latin typeface="Calibri"/>
              </a:rPr>
              <a:t>Highlighted = the Kraftwerksstrategie's first-stage instrument.  Sources: Bublitz et al. (2019); ACER &amp; CEER (2013).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Where the Kraftwerksstrategie Sits</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1 · Literature</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7</a:t>
            </a:r>
          </a:p>
        </p:txBody>
      </p:sp>
      <p:sp>
        <p:nvSpPr>
          <p:cNvPr id="8" name="TextBox 7"/>
          <p:cNvSpPr txBox="1"/>
          <p:nvPr/>
        </p:nvSpPr>
        <p:spPr>
          <a:xfrm>
            <a:off x="640080" y="1280160"/>
            <a:ext cx="10881360" cy="548640"/>
          </a:xfrm>
          <a:prstGeom prst="rect">
            <a:avLst/>
          </a:prstGeom>
          <a:noFill/>
        </p:spPr>
        <p:txBody>
          <a:bodyPr wrap="square" anchor="t" lIns="25400" rIns="25400" tIns="12700" bIns="12700">
            <a:spAutoFit/>
          </a:bodyPr>
          <a:lstStyle/>
          <a:p>
            <a:pPr algn="l">
              <a:spcAft>
                <a:spcPts val="0"/>
              </a:spcAft>
            </a:pPr>
            <a:r>
              <a:rPr sz="1600" b="0" i="1">
                <a:solidFill>
                  <a:srgbClr val="666666"/>
                </a:solidFill>
                <a:latin typeface="Calibri"/>
              </a:rPr>
              <a:t>A two-stage shift: from a minimal reserve, to a targeted tender, toward an enduring market-wide market.</a:t>
            </a:r>
          </a:p>
        </p:txBody>
      </p:sp>
      <p:sp>
        <p:nvSpPr>
          <p:cNvPr id="9" name="Rectangle 8"/>
          <p:cNvSpPr/>
          <p:nvPr/>
        </p:nvSpPr>
        <p:spPr>
          <a:xfrm>
            <a:off x="594360" y="2286000"/>
            <a:ext cx="3383280" cy="45720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286000"/>
            <a:ext cx="3383280" cy="457200"/>
          </a:xfrm>
          <a:prstGeom prst="rect">
            <a:avLst/>
          </a:prstGeom>
          <a:noFill/>
        </p:spPr>
        <p:txBody>
          <a:bodyPr wrap="square" anchor="ctr" lIns="25400" rIns="25400" tIns="12700" bIns="12700">
            <a:spAutoFit/>
          </a:bodyPr>
          <a:lstStyle/>
          <a:p>
            <a:pPr algn="ctr">
              <a:spcAft>
                <a:spcPts val="0"/>
              </a:spcAft>
            </a:pPr>
            <a:r>
              <a:rPr sz="1400" b="1" i="0">
                <a:solidFill>
                  <a:srgbClr val="FFFFFF"/>
                </a:solidFill>
                <a:latin typeface="Calibri"/>
              </a:rPr>
              <a:t>PAST</a:t>
            </a:r>
          </a:p>
        </p:txBody>
      </p:sp>
      <p:sp>
        <p:nvSpPr>
          <p:cNvPr id="11" name="Rectangle 10"/>
          <p:cNvSpPr/>
          <p:nvPr/>
        </p:nvSpPr>
        <p:spPr>
          <a:xfrm>
            <a:off x="594360" y="2743200"/>
            <a:ext cx="3383280" cy="1463040"/>
          </a:xfrm>
          <a:prstGeom prst="rect">
            <a:avLst/>
          </a:prstGeom>
          <a:solidFill>
            <a:srgbClr val="EEF3F8"/>
          </a:solidFill>
          <a:ln w="12700">
            <a:solidFill>
              <a:srgbClr val="0035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0560" y="2834640"/>
            <a:ext cx="3230880" cy="1280160"/>
          </a:xfrm>
          <a:prstGeom prst="rect">
            <a:avLst/>
          </a:prstGeom>
          <a:noFill/>
        </p:spPr>
        <p:txBody>
          <a:bodyPr wrap="square" anchor="ctr" lIns="25400" rIns="25400" tIns="12700" bIns="12700">
            <a:spAutoFit/>
          </a:bodyPr>
          <a:lstStyle/>
          <a:p>
            <a:pPr algn="ctr">
              <a:spcAft>
                <a:spcPts val="400"/>
              </a:spcAft>
            </a:pPr>
            <a:r>
              <a:rPr sz="1700" b="1" i="0">
                <a:solidFill>
                  <a:srgbClr val="003560"/>
                </a:solidFill>
                <a:latin typeface="Calibri"/>
              </a:rPr>
              <a:t>Strategic reserve</a:t>
            </a:r>
          </a:p>
          <a:p>
            <a:pPr algn="ctr">
              <a:spcAft>
                <a:spcPts val="100"/>
              </a:spcAft>
            </a:pPr>
            <a:r>
              <a:rPr sz="1300" b="0" i="0">
                <a:solidFill>
                  <a:srgbClr val="222222"/>
                </a:solidFill>
                <a:latin typeface="Calibri"/>
              </a:rPr>
              <a:t>Targeted · held outside</a:t>
            </a:r>
          </a:p>
          <a:p>
            <a:pPr algn="ctr">
              <a:spcAft>
                <a:spcPts val="100"/>
              </a:spcAft>
            </a:pPr>
            <a:r>
              <a:rPr sz="1300" b="0" i="0">
                <a:solidFill>
                  <a:srgbClr val="222222"/>
                </a:solidFill>
                <a:latin typeface="Calibri"/>
              </a:rPr>
              <a:t>the market</a:t>
            </a:r>
          </a:p>
        </p:txBody>
      </p:sp>
      <p:sp>
        <p:nvSpPr>
          <p:cNvPr id="13" name="Right Arrow 12"/>
          <p:cNvSpPr/>
          <p:nvPr/>
        </p:nvSpPr>
        <p:spPr>
          <a:xfrm>
            <a:off x="4003040" y="2926080"/>
            <a:ext cx="452120" cy="640080"/>
          </a:xfrm>
          <a:prstGeom prst="rightArrow">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2286000"/>
            <a:ext cx="3383280" cy="4572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286000"/>
            <a:ext cx="3383280" cy="457200"/>
          </a:xfrm>
          <a:prstGeom prst="rect">
            <a:avLst/>
          </a:prstGeom>
          <a:noFill/>
        </p:spPr>
        <p:txBody>
          <a:bodyPr wrap="square" anchor="ctr" lIns="25400" rIns="25400" tIns="12700" bIns="12700">
            <a:spAutoFit/>
          </a:bodyPr>
          <a:lstStyle/>
          <a:p>
            <a:pPr algn="ctr">
              <a:spcAft>
                <a:spcPts val="0"/>
              </a:spcAft>
            </a:pPr>
            <a:r>
              <a:rPr sz="1400" b="1" i="0">
                <a:solidFill>
                  <a:srgbClr val="FFFFFF"/>
                </a:solidFill>
                <a:latin typeface="Calibri"/>
              </a:rPr>
              <a:t>STAGE 1 (now)</a:t>
            </a:r>
          </a:p>
        </p:txBody>
      </p:sp>
      <p:sp>
        <p:nvSpPr>
          <p:cNvPr id="16" name="Rectangle 15"/>
          <p:cNvSpPr/>
          <p:nvPr/>
        </p:nvSpPr>
        <p:spPr>
          <a:xfrm>
            <a:off x="4480560" y="2743200"/>
            <a:ext cx="3383280" cy="1463040"/>
          </a:xfrm>
          <a:prstGeom prst="rect">
            <a:avLst/>
          </a:prstGeom>
          <a:solidFill>
            <a:srgbClr val="ECF3DF"/>
          </a:solidFill>
          <a:ln w="12700">
            <a:solidFill>
              <a:srgbClr val="8AB7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6760" y="2834640"/>
            <a:ext cx="3230880" cy="1280160"/>
          </a:xfrm>
          <a:prstGeom prst="rect">
            <a:avLst/>
          </a:prstGeom>
          <a:noFill/>
        </p:spPr>
        <p:txBody>
          <a:bodyPr wrap="square" anchor="ctr" lIns="25400" rIns="25400" tIns="12700" bIns="12700">
            <a:spAutoFit/>
          </a:bodyPr>
          <a:lstStyle/>
          <a:p>
            <a:pPr algn="ctr">
              <a:spcAft>
                <a:spcPts val="400"/>
              </a:spcAft>
            </a:pPr>
            <a:r>
              <a:rPr sz="1700" b="1" i="0">
                <a:solidFill>
                  <a:srgbClr val="003560"/>
                </a:solidFill>
                <a:latin typeface="Calibri"/>
              </a:rPr>
              <a:t>Tender for new capacity</a:t>
            </a:r>
          </a:p>
          <a:p>
            <a:pPr algn="ctr">
              <a:spcAft>
                <a:spcPts val="100"/>
              </a:spcAft>
            </a:pPr>
            <a:r>
              <a:rPr sz="1300" b="0" i="0">
                <a:solidFill>
                  <a:srgbClr val="222222"/>
                </a:solidFill>
                <a:latin typeface="Calibri"/>
              </a:rPr>
              <a:t>Targeted · quantity-based</a:t>
            </a:r>
          </a:p>
          <a:p>
            <a:pPr algn="ctr">
              <a:spcAft>
                <a:spcPts val="100"/>
              </a:spcAft>
            </a:pPr>
            <a:r>
              <a:rPr sz="1300" b="0" i="0">
                <a:solidFill>
                  <a:srgbClr val="222222"/>
                </a:solidFill>
                <a:latin typeface="Calibri"/>
              </a:rPr>
              <a:t>auction (~10 GW gas)</a:t>
            </a:r>
          </a:p>
        </p:txBody>
      </p:sp>
      <p:sp>
        <p:nvSpPr>
          <p:cNvPr id="18" name="Right Arrow 17"/>
          <p:cNvSpPr/>
          <p:nvPr/>
        </p:nvSpPr>
        <p:spPr>
          <a:xfrm>
            <a:off x="7889240" y="2926080"/>
            <a:ext cx="452120" cy="640080"/>
          </a:xfrm>
          <a:prstGeom prst="rightArrow">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66760" y="2286000"/>
            <a:ext cx="3383280" cy="4572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2286000"/>
            <a:ext cx="3383280" cy="457200"/>
          </a:xfrm>
          <a:prstGeom prst="rect">
            <a:avLst/>
          </a:prstGeom>
          <a:noFill/>
        </p:spPr>
        <p:txBody>
          <a:bodyPr wrap="square" anchor="ctr" lIns="25400" rIns="25400" tIns="12700" bIns="12700">
            <a:spAutoFit/>
          </a:bodyPr>
          <a:lstStyle/>
          <a:p>
            <a:pPr algn="ctr">
              <a:spcAft>
                <a:spcPts val="0"/>
              </a:spcAft>
            </a:pPr>
            <a:r>
              <a:rPr sz="1400" b="1" i="0">
                <a:solidFill>
                  <a:srgbClr val="FFFFFF"/>
                </a:solidFill>
                <a:latin typeface="Calibri"/>
              </a:rPr>
              <a:t>STAGE 2 (2032)</a:t>
            </a:r>
          </a:p>
        </p:txBody>
      </p:sp>
      <p:sp>
        <p:nvSpPr>
          <p:cNvPr id="21" name="Rectangle 20"/>
          <p:cNvSpPr/>
          <p:nvPr/>
        </p:nvSpPr>
        <p:spPr>
          <a:xfrm>
            <a:off x="8366760" y="2743200"/>
            <a:ext cx="3383280" cy="1463040"/>
          </a:xfrm>
          <a:prstGeom prst="rect">
            <a:avLst/>
          </a:prstGeom>
          <a:solidFill>
            <a:srgbClr val="ECF3DF"/>
          </a:solidFill>
          <a:ln w="12700">
            <a:solidFill>
              <a:srgbClr val="8AB7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42960" y="2834640"/>
            <a:ext cx="3230880" cy="1280160"/>
          </a:xfrm>
          <a:prstGeom prst="rect">
            <a:avLst/>
          </a:prstGeom>
          <a:noFill/>
        </p:spPr>
        <p:txBody>
          <a:bodyPr wrap="square" anchor="ctr" lIns="25400" rIns="25400" tIns="12700" bIns="12700">
            <a:spAutoFit/>
          </a:bodyPr>
          <a:lstStyle/>
          <a:p>
            <a:pPr algn="ctr">
              <a:spcAft>
                <a:spcPts val="400"/>
              </a:spcAft>
            </a:pPr>
            <a:r>
              <a:rPr sz="1700" b="1" i="0">
                <a:solidFill>
                  <a:srgbClr val="003560"/>
                </a:solidFill>
                <a:latin typeface="Calibri"/>
              </a:rPr>
              <a:t>Market-wide capacity market</a:t>
            </a:r>
          </a:p>
          <a:p>
            <a:pPr algn="ctr">
              <a:spcAft>
                <a:spcPts val="100"/>
              </a:spcAft>
            </a:pPr>
            <a:r>
              <a:rPr sz="1300" b="0" i="0">
                <a:solidFill>
                  <a:srgbClr val="222222"/>
                </a:solidFill>
                <a:latin typeface="Calibri"/>
              </a:rPr>
              <a:t>Market-wide · quantity-based</a:t>
            </a:r>
          </a:p>
          <a:p>
            <a:pPr algn="ctr">
              <a:spcAft>
                <a:spcPts val="100"/>
              </a:spcAft>
            </a:pPr>
            <a:r>
              <a:rPr sz="1300" b="0" i="0">
                <a:solidFill>
                  <a:srgbClr val="222222"/>
                </a:solidFill>
                <a:latin typeface="Calibri"/>
              </a:rPr>
              <a:t>(technology-open)</a:t>
            </a:r>
          </a:p>
        </p:txBody>
      </p:sp>
      <p:sp>
        <p:nvSpPr>
          <p:cNvPr id="23" name="Rectangle 22"/>
          <p:cNvSpPr/>
          <p:nvPr/>
        </p:nvSpPr>
        <p:spPr>
          <a:xfrm>
            <a:off x="594360" y="4526280"/>
            <a:ext cx="10927080" cy="12344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4617720"/>
            <a:ext cx="10597896" cy="1051560"/>
          </a:xfrm>
          <a:prstGeom prst="rect">
            <a:avLst/>
          </a:prstGeom>
          <a:noFill/>
        </p:spPr>
        <p:txBody>
          <a:bodyPr wrap="square" anchor="t" lIns="25400" rIns="25400" tIns="12700" bIns="12700">
            <a:spAutoFit/>
          </a:bodyPr>
          <a:lstStyle/>
          <a:p>
            <a:pPr algn="l">
              <a:spcAft>
                <a:spcPts val="500"/>
              </a:spcAft>
            </a:pPr>
            <a:r>
              <a:rPr sz="1500" b="1" i="0">
                <a:solidFill>
                  <a:srgbClr val="003560"/>
                </a:solidFill>
                <a:latin typeface="Calibri"/>
              </a:rPr>
              <a:t>Classification</a:t>
            </a:r>
          </a:p>
          <a:p>
            <a:pPr algn="l">
              <a:spcAft>
                <a:spcPts val="400"/>
              </a:spcAft>
            </a:pPr>
            <a:r>
              <a:rPr sz="1250" b="0" i="0">
                <a:solidFill>
                  <a:srgbClr val="222222"/>
                </a:solidFill>
                <a:latin typeface="Calibri"/>
              </a:rPr>
              <a:t>•  Stage 1 = a targeted, quantity-based tender for new capacity; Stage 2 = a market-wide capacity market.</a:t>
            </a:r>
          </a:p>
          <a:p>
            <a:pPr algn="l">
              <a:spcAft>
                <a:spcPts val="400"/>
              </a:spcAft>
            </a:pPr>
            <a:r>
              <a:rPr sz="1250" b="0" i="0">
                <a:solidFill>
                  <a:srgbClr val="222222"/>
                </a:solidFill>
                <a:latin typeface="Calibri"/>
              </a:rPr>
              <a:t>•  A clear departure from Germany's decade-long preference for an energy-only market plus a strategic reserve.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Literature: How CRMs Affect Markets</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1 · Literature</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8</a:t>
            </a:r>
          </a:p>
        </p:txBody>
      </p:sp>
      <p:sp>
        <p:nvSpPr>
          <p:cNvPr id="8" name="Rectangle 7"/>
          <p:cNvSpPr/>
          <p:nvPr/>
        </p:nvSpPr>
        <p:spPr>
          <a:xfrm>
            <a:off x="640080" y="1417320"/>
            <a:ext cx="164592" cy="86868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10607040" cy="86868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Cramton &amp; Stoft (2005); Joskow (2008)</a:t>
            </a:r>
          </a:p>
          <a:p>
            <a:pPr algn="l">
              <a:spcAft>
                <a:spcPts val="0"/>
              </a:spcAft>
            </a:pPr>
            <a:r>
              <a:rPr sz="1350" b="0" i="0">
                <a:solidFill>
                  <a:srgbClr val="222222"/>
                </a:solidFill>
                <a:latin typeface="Calibri"/>
              </a:rPr>
              <a:t>"Missing money": energy-only markets under-reward firm capacity; price caps truncate scarcity rents.</a:t>
            </a:r>
          </a:p>
        </p:txBody>
      </p:sp>
      <p:sp>
        <p:nvSpPr>
          <p:cNvPr id="10" name="Rectangle 9"/>
          <p:cNvSpPr/>
          <p:nvPr/>
        </p:nvSpPr>
        <p:spPr>
          <a:xfrm>
            <a:off x="640080" y="2350008"/>
            <a:ext cx="164592" cy="86868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350008"/>
            <a:ext cx="10607040" cy="86868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Bublitz et al. (2019)</a:t>
            </a:r>
          </a:p>
          <a:p>
            <a:pPr algn="l">
              <a:spcAft>
                <a:spcPts val="0"/>
              </a:spcAft>
            </a:pPr>
            <a:r>
              <a:rPr sz="1350" b="0" i="0">
                <a:solidFill>
                  <a:srgbClr val="222222"/>
                </a:solidFill>
                <a:latin typeface="Calibri"/>
              </a:rPr>
              <a:t>CRMs cut price spikes and volatility, shifting remuneration from energy rents to stable capacity payments.</a:t>
            </a:r>
          </a:p>
        </p:txBody>
      </p:sp>
      <p:sp>
        <p:nvSpPr>
          <p:cNvPr id="12" name="Rectangle 11"/>
          <p:cNvSpPr/>
          <p:nvPr/>
        </p:nvSpPr>
        <p:spPr>
          <a:xfrm>
            <a:off x="640080" y="3282696"/>
            <a:ext cx="164592" cy="86868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82696"/>
            <a:ext cx="10607040" cy="86868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Bhagwat et al. (2017)</a:t>
            </a:r>
          </a:p>
          <a:p>
            <a:pPr algn="l">
              <a:spcAft>
                <a:spcPts val="0"/>
              </a:spcAft>
            </a:pPr>
            <a:r>
              <a:rPr sz="1350" b="0" i="0">
                <a:solidFill>
                  <a:srgbClr val="222222"/>
                </a:solidFill>
                <a:latin typeface="Calibri"/>
              </a:rPr>
              <a:t>CRMs improve adequacy and damp the investment cycle — but add capacity and consumer cost; sensitive to the target.</a:t>
            </a:r>
          </a:p>
        </p:txBody>
      </p:sp>
      <p:sp>
        <p:nvSpPr>
          <p:cNvPr id="14" name="Rectangle 13"/>
          <p:cNvSpPr/>
          <p:nvPr/>
        </p:nvSpPr>
        <p:spPr>
          <a:xfrm>
            <a:off x="640080" y="4215384"/>
            <a:ext cx="164592" cy="86868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215384"/>
            <a:ext cx="10607040" cy="86868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Newbery (2016)</a:t>
            </a:r>
          </a:p>
          <a:p>
            <a:pPr algn="l">
              <a:spcAft>
                <a:spcPts val="0"/>
              </a:spcAft>
            </a:pPr>
            <a:r>
              <a:rPr sz="1350" b="0" i="0">
                <a:solidFill>
                  <a:srgbClr val="222222"/>
                </a:solidFill>
                <a:latin typeface="Calibri"/>
              </a:rPr>
              <a:t>Interconnectors are partial substitutes for capacity; "missing markets" justify forward capacity auctions.</a:t>
            </a:r>
          </a:p>
        </p:txBody>
      </p:sp>
      <p:sp>
        <p:nvSpPr>
          <p:cNvPr id="16" name="Rectangle 15"/>
          <p:cNvSpPr/>
          <p:nvPr/>
        </p:nvSpPr>
        <p:spPr>
          <a:xfrm>
            <a:off x="640080" y="5148072"/>
            <a:ext cx="164592" cy="86868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148072"/>
            <a:ext cx="10607040" cy="868680"/>
          </a:xfrm>
          <a:prstGeom prst="rect">
            <a:avLst/>
          </a:prstGeom>
          <a:noFill/>
        </p:spPr>
        <p:txBody>
          <a:bodyPr wrap="square" anchor="ctr" lIns="25400" rIns="25400" tIns="12700" bIns="12700">
            <a:spAutoFit/>
          </a:bodyPr>
          <a:lstStyle/>
          <a:p>
            <a:pPr algn="l">
              <a:spcAft>
                <a:spcPts val="100"/>
              </a:spcAft>
            </a:pPr>
            <a:r>
              <a:rPr sz="1450" b="1" i="0">
                <a:solidFill>
                  <a:srgbClr val="003560"/>
                </a:solidFill>
                <a:latin typeface="Calibri"/>
              </a:rPr>
              <a:t>European Parliament (2017)</a:t>
            </a:r>
          </a:p>
          <a:p>
            <a:pPr algn="l">
              <a:spcAft>
                <a:spcPts val="0"/>
              </a:spcAft>
            </a:pPr>
            <a:r>
              <a:rPr sz="1350" b="0" i="0">
                <a:solidFill>
                  <a:srgbClr val="222222"/>
                </a:solidFill>
                <a:latin typeface="Calibri"/>
              </a:rPr>
              <a:t>Market-wide payments can hand windfall profits to incumbent plants; reliability options curb this.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Expected Impact on Prices — Part 1 Synthesis</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1 · Literature</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9</a:t>
            </a:r>
          </a:p>
        </p:txBody>
      </p:sp>
      <p:sp>
        <p:nvSpPr>
          <p:cNvPr id="8" name="TextBox 7"/>
          <p:cNvSpPr txBox="1"/>
          <p:nvPr/>
        </p:nvSpPr>
        <p:spPr>
          <a:xfrm>
            <a:off x="640080" y="1234440"/>
            <a:ext cx="10881360" cy="502920"/>
          </a:xfrm>
          <a:prstGeom prst="rect">
            <a:avLst/>
          </a:prstGeom>
          <a:noFill/>
        </p:spPr>
        <p:txBody>
          <a:bodyPr wrap="square" anchor="t" lIns="25400" rIns="25400" tIns="12700" bIns="12700">
            <a:spAutoFit/>
          </a:bodyPr>
          <a:lstStyle/>
          <a:p>
            <a:pPr algn="l">
              <a:spcAft>
                <a:spcPts val="0"/>
              </a:spcAft>
            </a:pPr>
            <a:r>
              <a:rPr sz="1500" b="0" i="1">
                <a:solidFill>
                  <a:srgbClr val="666666"/>
                </a:solidFill>
                <a:latin typeface="Calibri"/>
              </a:rPr>
              <a:t>From the literature, adding firm capacity to a high-renewable system should:</a:t>
            </a:r>
          </a:p>
        </p:txBody>
      </p:sp>
      <p:sp>
        <p:nvSpPr>
          <p:cNvPr id="9" name="TextBox 8"/>
          <p:cNvSpPr txBox="1"/>
          <p:nvPr/>
        </p:nvSpPr>
        <p:spPr>
          <a:xfrm>
            <a:off x="640080" y="1828800"/>
            <a:ext cx="5394960" cy="3474720"/>
          </a:xfrm>
          <a:prstGeom prst="rect">
            <a:avLst/>
          </a:prstGeom>
          <a:noFill/>
        </p:spPr>
        <p:txBody>
          <a:bodyPr wrap="square" anchor="t" lIns="25400" rIns="25400" tIns="12700" bIns="12700">
            <a:spAutoFit/>
          </a:bodyPr>
          <a:lstStyle/>
          <a:p>
            <a:pPr algn="l">
              <a:spcAft>
                <a:spcPts val="800"/>
              </a:spcAft>
            </a:pPr>
            <a:r>
              <a:rPr sz="1600" b="0" i="0">
                <a:solidFill>
                  <a:srgbClr val="222222"/>
                </a:solidFill>
                <a:latin typeface="Calibri"/>
              </a:rPr>
              <a:t>•  Reduce scarcity (loss-of-load) hours</a:t>
            </a:r>
          </a:p>
          <a:p>
            <a:pPr algn="l">
              <a:spcAft>
                <a:spcPts val="800"/>
              </a:spcAft>
            </a:pPr>
            <a:r>
              <a:rPr sz="1600" b="0" i="0">
                <a:solidFill>
                  <a:srgbClr val="222222"/>
                </a:solidFill>
                <a:latin typeface="Calibri"/>
              </a:rPr>
              <a:t>•  Reduce unserved energy</a:t>
            </a:r>
          </a:p>
          <a:p>
            <a:pPr algn="l">
              <a:spcAft>
                <a:spcPts val="800"/>
              </a:spcAft>
            </a:pPr>
            <a:r>
              <a:rPr sz="1600" b="0" i="0">
                <a:solidFill>
                  <a:srgbClr val="222222"/>
                </a:solidFill>
                <a:latin typeface="Calibri"/>
              </a:rPr>
              <a:t>•  Lower or keep the average price</a:t>
            </a:r>
          </a:p>
          <a:p>
            <a:pPr algn="l">
              <a:spcAft>
                <a:spcPts val="800"/>
              </a:spcAft>
            </a:pPr>
            <a:r>
              <a:rPr sz="1600" b="0" i="0">
                <a:solidFill>
                  <a:srgbClr val="222222"/>
                </a:solidFill>
                <a:latin typeface="Calibri"/>
              </a:rPr>
              <a:t>•  Strongly reduce price volatility &amp; spikes</a:t>
            </a:r>
          </a:p>
        </p:txBody>
      </p:sp>
      <p:sp>
        <p:nvSpPr>
          <p:cNvPr id="10" name="TextBox 9"/>
          <p:cNvSpPr txBox="1"/>
          <p:nvPr/>
        </p:nvSpPr>
        <p:spPr>
          <a:xfrm>
            <a:off x="6126480" y="1828800"/>
            <a:ext cx="5394960" cy="3474720"/>
          </a:xfrm>
          <a:prstGeom prst="rect">
            <a:avLst/>
          </a:prstGeom>
          <a:noFill/>
        </p:spPr>
        <p:txBody>
          <a:bodyPr wrap="square" anchor="t" lIns="25400" rIns="25400" tIns="12700" bIns="12700">
            <a:spAutoFit/>
          </a:bodyPr>
          <a:lstStyle/>
          <a:p>
            <a:pPr algn="l">
              <a:spcAft>
                <a:spcPts val="800"/>
              </a:spcAft>
            </a:pPr>
            <a:r>
              <a:rPr sz="1600" b="0" i="0">
                <a:solidFill>
                  <a:srgbClr val="222222"/>
                </a:solidFill>
                <a:latin typeface="Calibri"/>
              </a:rPr>
              <a:t>•  Lower the utilisation of existing gas (dilution)</a:t>
            </a:r>
          </a:p>
          <a:p>
            <a:pPr algn="l">
              <a:spcAft>
                <a:spcPts val="800"/>
              </a:spcAft>
            </a:pPr>
            <a:r>
              <a:rPr sz="1600" b="0" i="0">
                <a:solidFill>
                  <a:srgbClr val="222222"/>
                </a:solidFill>
                <a:latin typeface="Calibri"/>
              </a:rPr>
              <a:t>•  Leave renewable curtailment roughly unchanged</a:t>
            </a:r>
          </a:p>
          <a:p>
            <a:pPr algn="l">
              <a:spcAft>
                <a:spcPts val="800"/>
              </a:spcAft>
            </a:pPr>
            <a:r>
              <a:rPr sz="1600" b="0" i="0">
                <a:solidFill>
                  <a:srgbClr val="222222"/>
                </a:solidFill>
                <a:latin typeface="Calibri"/>
              </a:rPr>
              <a:t>•  Raise total system cost (textbook view) — unless efficient plant displaces costlier generation</a:t>
            </a:r>
          </a:p>
          <a:p>
            <a:pPr algn="l">
              <a:spcAft>
                <a:spcPts val="800"/>
              </a:spcAft>
            </a:pPr>
            <a:r>
              <a:rPr sz="1600" b="0" i="0">
                <a:solidFill>
                  <a:srgbClr val="222222"/>
                </a:solidFill>
                <a:latin typeface="Calibri"/>
              </a:rPr>
              <a:t>•  Ambiguous effect on CO₂ (coal vs imports)</a:t>
            </a:r>
          </a:p>
        </p:txBody>
      </p:sp>
      <p:sp>
        <p:nvSpPr>
          <p:cNvPr id="11" name="Rectangle 10"/>
          <p:cNvSpPr/>
          <p:nvPr/>
        </p:nvSpPr>
        <p:spPr>
          <a:xfrm>
            <a:off x="640080" y="5440680"/>
            <a:ext cx="10881360" cy="8686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532120"/>
            <a:ext cx="10552176" cy="685800"/>
          </a:xfrm>
          <a:prstGeom prst="rect">
            <a:avLst/>
          </a:prstGeom>
          <a:noFill/>
        </p:spPr>
        <p:txBody>
          <a:bodyPr wrap="square" anchor="t" lIns="25400" rIns="25400" tIns="12700" bIns="12700">
            <a:spAutoFit/>
          </a:bodyPr>
          <a:lstStyle/>
          <a:p>
            <a:pPr algn="l">
              <a:spcAft>
                <a:spcPts val="500"/>
              </a:spcAft>
            </a:pPr>
            <a:r>
              <a:rPr sz="1500" b="1" i="0">
                <a:solidFill>
                  <a:srgbClr val="003560"/>
                </a:solidFill>
                <a:latin typeface="Calibri"/>
              </a:rPr>
              <a:t>These become our test hypotheses</a:t>
            </a:r>
          </a:p>
          <a:p>
            <a:pPr algn="l">
              <a:spcAft>
                <a:spcPts val="400"/>
              </a:spcAft>
            </a:pPr>
            <a:r>
              <a:rPr sz="1250" b="0" i="0">
                <a:solidFill>
                  <a:srgbClr val="222222"/>
                </a:solidFill>
                <a:latin typeface="Calibri"/>
              </a:rPr>
              <a:t>•  Part 2 builds a model of the 2030 system and checks each expectation against real model output.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Part 2 — The PyPSA Model</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2 · Model</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10</a:t>
            </a:r>
          </a:p>
        </p:txBody>
      </p:sp>
      <p:pic>
        <p:nvPicPr>
          <p:cNvPr id="8" name="Picture 7" descr="fig7_model_schematic.png"/>
          <p:cNvPicPr>
            <a:picLocks noChangeAspect="1"/>
          </p:cNvPicPr>
          <p:nvPr/>
        </p:nvPicPr>
        <p:blipFill>
          <a:blip r:embed="rId2"/>
          <a:stretch>
            <a:fillRect/>
          </a:stretch>
        </p:blipFill>
        <p:spPr>
          <a:xfrm>
            <a:off x="502920" y="1508760"/>
            <a:ext cx="6035040" cy="4023360"/>
          </a:xfrm>
          <a:prstGeom prst="rect">
            <a:avLst/>
          </a:prstGeom>
        </p:spPr>
      </p:pic>
      <p:sp>
        <p:nvSpPr>
          <p:cNvPr id="9" name="TextBox 8"/>
          <p:cNvSpPr txBox="1"/>
          <p:nvPr/>
        </p:nvSpPr>
        <p:spPr>
          <a:xfrm>
            <a:off x="6766560" y="1371600"/>
            <a:ext cx="4846320" cy="2651760"/>
          </a:xfrm>
          <a:prstGeom prst="rect">
            <a:avLst/>
          </a:prstGeom>
          <a:noFill/>
        </p:spPr>
        <p:txBody>
          <a:bodyPr wrap="square" anchor="t" lIns="25400" rIns="25400" tIns="12700" bIns="12700">
            <a:spAutoFit/>
          </a:bodyPr>
          <a:lstStyle/>
          <a:p>
            <a:pPr algn="l">
              <a:spcAft>
                <a:spcPts val="700"/>
              </a:spcAft>
            </a:pPr>
            <a:r>
              <a:rPr sz="1600" b="0" i="0">
                <a:solidFill>
                  <a:srgbClr val="222222"/>
                </a:solidFill>
                <a:latin typeface="Calibri"/>
              </a:rPr>
              <a:t>•  Single-node (DE/LU) hourly dispatch model</a:t>
            </a:r>
          </a:p>
          <a:p>
            <a:pPr algn="l">
              <a:spcAft>
                <a:spcPts val="700"/>
              </a:spcAft>
            </a:pPr>
            <a:r>
              <a:rPr sz="1600" b="0" i="0">
                <a:solidFill>
                  <a:srgbClr val="222222"/>
                </a:solidFill>
                <a:latin typeface="Calibri"/>
              </a:rPr>
              <a:t>•  Open-source PyPSA, solved with HiGHS</a:t>
            </a:r>
          </a:p>
          <a:p>
            <a:pPr algn="l">
              <a:spcAft>
                <a:spcPts val="700"/>
              </a:spcAft>
            </a:pPr>
            <a:r>
              <a:rPr sz="1600" b="0" i="0">
                <a:solidFill>
                  <a:srgbClr val="222222"/>
                </a:solidFill>
                <a:latin typeface="Calibri"/>
              </a:rPr>
              <a:t>•  8,760 hours; least-cost dispatch each hour</a:t>
            </a:r>
          </a:p>
          <a:p>
            <a:pPr algn="l">
              <a:spcAft>
                <a:spcPts val="700"/>
              </a:spcAft>
            </a:pPr>
            <a:r>
              <a:rPr sz="1600" b="0" i="0">
                <a:solidFill>
                  <a:srgbClr val="222222"/>
                </a:solidFill>
                <a:latin typeface="Calibri"/>
              </a:rPr>
              <a:t>•  Calibrated on real 2025 data (0.4% price error), then projected to 2030</a:t>
            </a:r>
          </a:p>
        </p:txBody>
      </p:sp>
      <p:sp>
        <p:nvSpPr>
          <p:cNvPr id="10" name="Rectangle 9"/>
          <p:cNvSpPr/>
          <p:nvPr/>
        </p:nvSpPr>
        <p:spPr>
          <a:xfrm>
            <a:off x="6766560" y="4160520"/>
            <a:ext cx="4846320" cy="1691640"/>
          </a:xfrm>
          <a:prstGeom prst="rect">
            <a:avLst/>
          </a:prstGeom>
          <a:solidFill>
            <a:srgbClr val="EC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1152" y="4251960"/>
            <a:ext cx="4517136" cy="1508760"/>
          </a:xfrm>
          <a:prstGeom prst="rect">
            <a:avLst/>
          </a:prstGeom>
          <a:noFill/>
        </p:spPr>
        <p:txBody>
          <a:bodyPr wrap="square" anchor="t" lIns="25400" rIns="25400" tIns="12700" bIns="12700">
            <a:spAutoFit/>
          </a:bodyPr>
          <a:lstStyle/>
          <a:p>
            <a:pPr algn="l">
              <a:spcAft>
                <a:spcPts val="500"/>
              </a:spcAft>
            </a:pPr>
            <a:r>
              <a:rPr sz="1500" b="1" i="0">
                <a:solidFill>
                  <a:srgbClr val="4D6B0F"/>
                </a:solidFill>
                <a:latin typeface="Calibri"/>
              </a:rPr>
              <a:t>Two scenarios</a:t>
            </a:r>
          </a:p>
          <a:p>
            <a:pPr algn="l">
              <a:spcAft>
                <a:spcPts val="400"/>
              </a:spcAft>
            </a:pPr>
            <a:r>
              <a:rPr sz="1250" b="0" i="0">
                <a:solidFill>
                  <a:srgbClr val="222222"/>
                </a:solidFill>
                <a:latin typeface="Calibri"/>
              </a:rPr>
              <a:t>•  A — WITHOUT new capacity (0 GW): no CRM</a:t>
            </a:r>
          </a:p>
          <a:p>
            <a:pPr algn="l">
              <a:spcAft>
                <a:spcPts val="400"/>
              </a:spcAft>
            </a:pPr>
            <a:r>
              <a:rPr sz="1250" b="0" i="0">
                <a:solidFill>
                  <a:srgbClr val="222222"/>
                </a:solidFill>
                <a:latin typeface="Calibri"/>
              </a:rPr>
              <a:t>•  B — WITH new capacity (+10 GW H₂-ready CCGT)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Inside the Model — Code Highlight</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2 · Model</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11</a:t>
            </a:r>
          </a:p>
        </p:txBody>
      </p:sp>
      <p:pic>
        <p:nvPicPr>
          <p:cNvPr id="8" name="Picture 7" descr="codeA_model_setup.png"/>
          <p:cNvPicPr>
            <a:picLocks noChangeAspect="1"/>
          </p:cNvPicPr>
          <p:nvPr/>
        </p:nvPicPr>
        <p:blipFill>
          <a:blip r:embed="rId2"/>
          <a:stretch>
            <a:fillRect/>
          </a:stretch>
        </p:blipFill>
        <p:spPr>
          <a:xfrm>
            <a:off x="731520" y="1346506"/>
            <a:ext cx="7680960" cy="4439307"/>
          </a:xfrm>
          <a:prstGeom prst="rect">
            <a:avLst/>
          </a:prstGeom>
        </p:spPr>
      </p:pic>
      <p:sp>
        <p:nvSpPr>
          <p:cNvPr id="9" name="TextBox 8"/>
          <p:cNvSpPr txBox="1"/>
          <p:nvPr/>
        </p:nvSpPr>
        <p:spPr>
          <a:xfrm>
            <a:off x="8686800" y="1463040"/>
            <a:ext cx="2926080" cy="4206240"/>
          </a:xfrm>
          <a:prstGeom prst="rect">
            <a:avLst/>
          </a:prstGeom>
          <a:noFill/>
        </p:spPr>
        <p:txBody>
          <a:bodyPr wrap="square" anchor="t" lIns="25400" rIns="25400" tIns="12700" bIns="12700">
            <a:spAutoFit/>
          </a:bodyPr>
          <a:lstStyle/>
          <a:p>
            <a:pPr algn="l">
              <a:spcAft>
                <a:spcPts val="800"/>
              </a:spcAft>
            </a:pPr>
            <a:r>
              <a:rPr sz="1500" b="1" i="0">
                <a:solidFill>
                  <a:srgbClr val="003560"/>
                </a:solidFill>
                <a:latin typeface="Calibri"/>
              </a:rPr>
              <a:t>What the code does</a:t>
            </a:r>
          </a:p>
          <a:p>
            <a:pPr algn="l">
              <a:spcAft>
                <a:spcPts val="700"/>
              </a:spcAft>
            </a:pPr>
            <a:r>
              <a:rPr sz="1350" b="0" i="0">
                <a:solidFill>
                  <a:srgbClr val="222222"/>
                </a:solidFill>
                <a:latin typeface="Calibri"/>
              </a:rPr>
              <a:t>•  Creates one electricity bus</a:t>
            </a:r>
          </a:p>
          <a:p>
            <a:pPr algn="l">
              <a:spcAft>
                <a:spcPts val="700"/>
              </a:spcAft>
            </a:pPr>
            <a:r>
              <a:rPr sz="1350" b="0" i="0">
                <a:solidFill>
                  <a:srgbClr val="222222"/>
                </a:solidFill>
                <a:latin typeface="Calibri"/>
              </a:rPr>
              <a:t>•  Adds demand for every hour</a:t>
            </a:r>
          </a:p>
          <a:p>
            <a:pPr algn="l">
              <a:spcAft>
                <a:spcPts val="700"/>
              </a:spcAft>
            </a:pPr>
            <a:r>
              <a:rPr sz="1350" b="0" i="0">
                <a:solidFill>
                  <a:srgbClr val="222222"/>
                </a:solidFill>
                <a:latin typeface="Calibri"/>
              </a:rPr>
              <a:t>•  Adds each generator with its capacity and marginal cost</a:t>
            </a:r>
          </a:p>
          <a:p>
            <a:pPr algn="l">
              <a:spcAft>
                <a:spcPts val="700"/>
              </a:spcAft>
            </a:pPr>
            <a:r>
              <a:rPr sz="1350" b="0" i="0">
                <a:solidFill>
                  <a:srgbClr val="222222"/>
                </a:solidFill>
                <a:latin typeface="Calibri"/>
              </a:rPr>
              <a:t>•  Renewables enter with their hourly availability profile</a:t>
            </a:r>
          </a:p>
        </p:txBody>
      </p:sp>
      <p:sp>
        <p:nvSpPr>
          <p:cNvPr id="10" name="TextBox 9"/>
          <p:cNvSpPr txBox="1"/>
          <p:nvPr/>
        </p:nvSpPr>
        <p:spPr>
          <a:xfrm>
            <a:off x="731520" y="5989320"/>
            <a:ext cx="7680960" cy="365760"/>
          </a:xfrm>
          <a:prstGeom prst="rect">
            <a:avLst/>
          </a:prstGeom>
          <a:noFill/>
        </p:spPr>
        <p:txBody>
          <a:bodyPr wrap="square" anchor="t" lIns="25400" rIns="25400" tIns="12700" bIns="12700">
            <a:spAutoFit/>
          </a:bodyPr>
          <a:lstStyle/>
          <a:p>
            <a:pPr algn="ctr">
              <a:spcAft>
                <a:spcPts val="0"/>
              </a:spcAft>
            </a:pPr>
            <a:r>
              <a:rPr sz="1200" b="0" i="1">
                <a:solidFill>
                  <a:srgbClr val="666666"/>
                </a:solidFill>
                <a:latin typeface="Calibri"/>
              </a:rPr>
              <a:t>Extract from model.py (built with PyPSA).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Key Data &amp; Assumptions (2030)</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2 · Model</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12</a:t>
            </a:r>
          </a:p>
        </p:txBody>
      </p:sp>
      <p:graphicFrame>
        <p:nvGraphicFramePr>
          <p:cNvPr id="8" name="Table 7"/>
          <p:cNvGraphicFramePr>
            <a:graphicFrameLocks noGrp="1"/>
          </p:cNvGraphicFramePr>
          <p:nvPr/>
        </p:nvGraphicFramePr>
        <p:xfrm>
          <a:off x="640080" y="1325880"/>
          <a:ext cx="10927080" cy="5029200"/>
        </p:xfrm>
        <a:graphic>
          <a:graphicData uri="http://schemas.openxmlformats.org/drawingml/2006/table">
            <a:tbl>
              <a:tblPr>
                <a:tableStyleId>{5C22544A-7EE6-4342-B048-85BDC9FD1C3A}</a:tableStyleId>
              </a:tblPr>
              <a:tblGrid>
                <a:gridCol w="4297680"/>
                <a:gridCol w="3291840"/>
                <a:gridCol w="3337560"/>
              </a:tblGrid>
              <a:tr h="457200">
                <a:tc>
                  <a:txBody>
                    <a:bodyPr/>
                    <a:lstStyle/>
                    <a:p>
                      <a:pPr algn="ctr"/>
                      <a:r>
                        <a:rPr sz="1350" b="1">
                          <a:solidFill>
                            <a:srgbClr val="FFFFFF"/>
                          </a:solidFill>
                          <a:latin typeface="Calibri"/>
                        </a:rPr>
                        <a:t>Parameter</a:t>
                      </a:r>
                    </a:p>
                  </a:txBody>
                  <a:tcPr marT="25400" marB="25400" anchor="ctr">
                    <a:solidFill>
                      <a:srgbClr val="003560"/>
                    </a:solidFill>
                  </a:tcPr>
                </a:tc>
                <a:tc>
                  <a:txBody>
                    <a:bodyPr/>
                    <a:lstStyle/>
                    <a:p>
                      <a:pPr algn="ctr"/>
                      <a:r>
                        <a:rPr sz="1350" b="1">
                          <a:solidFill>
                            <a:srgbClr val="FFFFFF"/>
                          </a:solidFill>
                          <a:latin typeface="Calibri"/>
                        </a:rPr>
                        <a:t>Value</a:t>
                      </a:r>
                    </a:p>
                  </a:txBody>
                  <a:tcPr marT="25400" marB="25400" anchor="ctr">
                    <a:solidFill>
                      <a:srgbClr val="003560"/>
                    </a:solidFill>
                  </a:tcPr>
                </a:tc>
                <a:tc>
                  <a:txBody>
                    <a:bodyPr/>
                    <a:lstStyle/>
                    <a:p>
                      <a:pPr algn="ctr"/>
                      <a:r>
                        <a:rPr sz="1350" b="1">
                          <a:solidFill>
                            <a:srgbClr val="FFFFFF"/>
                          </a:solidFill>
                          <a:latin typeface="Calibri"/>
                        </a:rPr>
                        <a:t>Source</a:t>
                      </a:r>
                    </a:p>
                  </a:txBody>
                  <a:tcPr marT="25400" marB="25400" anchor="ctr">
                    <a:solidFill>
                      <a:srgbClr val="003560"/>
                    </a:solidFill>
                  </a:tcPr>
                </a:tc>
              </a:tr>
              <a:tr h="457200">
                <a:tc>
                  <a:txBody>
                    <a:bodyPr/>
                    <a:lstStyle/>
                    <a:p>
                      <a:pPr algn="l"/>
                      <a:r>
                        <a:rPr sz="1300">
                          <a:solidFill>
                            <a:srgbClr val="222222"/>
                          </a:solidFill>
                          <a:latin typeface="Calibri"/>
                        </a:rPr>
                        <a:t>Gross electricity demand</a:t>
                      </a:r>
                    </a:p>
                  </a:txBody>
                  <a:tcPr marT="12700" marB="12700" anchor="ctr">
                    <a:solidFill>
                      <a:srgbClr val="FFFFFF"/>
                    </a:solidFill>
                  </a:tcPr>
                </a:tc>
                <a:tc>
                  <a:txBody>
                    <a:bodyPr/>
                    <a:lstStyle/>
                    <a:p>
                      <a:pPr algn="ctr"/>
                      <a:r>
                        <a:rPr sz="1300">
                          <a:solidFill>
                            <a:srgbClr val="222222"/>
                          </a:solidFill>
                          <a:latin typeface="Calibri"/>
                        </a:rPr>
                        <a:t>680 TWh</a:t>
                      </a:r>
                    </a:p>
                  </a:txBody>
                  <a:tcPr marT="12700" marB="12700" anchor="ctr">
                    <a:solidFill>
                      <a:srgbClr val="FFFFFF"/>
                    </a:solidFill>
                  </a:tcPr>
                </a:tc>
                <a:tc>
                  <a:txBody>
                    <a:bodyPr/>
                    <a:lstStyle/>
                    <a:p>
                      <a:pPr algn="ctr"/>
                      <a:r>
                        <a:rPr sz="1300">
                          <a:solidFill>
                            <a:srgbClr val="222222"/>
                          </a:solidFill>
                          <a:latin typeface="Calibri"/>
                        </a:rPr>
                        <a:t>NEP Szenariorahmen 2025</a:t>
                      </a:r>
                    </a:p>
                  </a:txBody>
                  <a:tcPr marT="12700" marB="12700" anchor="ctr">
                    <a:solidFill>
                      <a:srgbClr val="FFFFFF"/>
                    </a:solidFill>
                  </a:tcPr>
                </a:tc>
              </a:tr>
              <a:tr h="457200">
                <a:tc>
                  <a:txBody>
                    <a:bodyPr/>
                    <a:lstStyle/>
                    <a:p>
                      <a:pPr algn="l"/>
                      <a:r>
                        <a:rPr sz="1300">
                          <a:solidFill>
                            <a:srgbClr val="222222"/>
                          </a:solidFill>
                          <a:latin typeface="Calibri"/>
                        </a:rPr>
                        <a:t>Solar / onshore / offshore wind</a:t>
                      </a:r>
                    </a:p>
                  </a:txBody>
                  <a:tcPr marT="12700" marB="12700" anchor="ctr">
                    <a:solidFill>
                      <a:srgbClr val="EEF3F8"/>
                    </a:solidFill>
                  </a:tcPr>
                </a:tc>
                <a:tc>
                  <a:txBody>
                    <a:bodyPr/>
                    <a:lstStyle/>
                    <a:p>
                      <a:pPr algn="ctr"/>
                      <a:r>
                        <a:rPr sz="1300">
                          <a:solidFill>
                            <a:srgbClr val="222222"/>
                          </a:solidFill>
                          <a:latin typeface="Calibri"/>
                        </a:rPr>
                        <a:t>215 / 115 / 30 GW</a:t>
                      </a:r>
                    </a:p>
                  </a:txBody>
                  <a:tcPr marT="12700" marB="12700" anchor="ctr">
                    <a:solidFill>
                      <a:srgbClr val="EEF3F8"/>
                    </a:solidFill>
                  </a:tcPr>
                </a:tc>
                <a:tc>
                  <a:txBody>
                    <a:bodyPr/>
                    <a:lstStyle/>
                    <a:p>
                      <a:pPr algn="ctr"/>
                      <a:r>
                        <a:rPr sz="1300">
                          <a:solidFill>
                            <a:srgbClr val="222222"/>
                          </a:solidFill>
                          <a:latin typeface="Calibri"/>
                        </a:rPr>
                        <a:t>EEG 2023; NEP 2025</a:t>
                      </a:r>
                    </a:p>
                  </a:txBody>
                  <a:tcPr marT="12700" marB="12700" anchor="ctr">
                    <a:solidFill>
                      <a:srgbClr val="EEF3F8"/>
                    </a:solidFill>
                  </a:tcPr>
                </a:tc>
              </a:tr>
              <a:tr h="457200">
                <a:tc>
                  <a:txBody>
                    <a:bodyPr/>
                    <a:lstStyle/>
                    <a:p>
                      <a:pPr algn="l"/>
                      <a:r>
                        <a:rPr sz="1300">
                          <a:solidFill>
                            <a:srgbClr val="222222"/>
                          </a:solidFill>
                          <a:latin typeface="Calibri"/>
                        </a:rPr>
                        <a:t>Lignite / hard coal (2030)</a:t>
                      </a:r>
                    </a:p>
                  </a:txBody>
                  <a:tcPr marT="12700" marB="12700" anchor="ctr">
                    <a:solidFill>
                      <a:srgbClr val="FFFFFF"/>
                    </a:solidFill>
                  </a:tcPr>
                </a:tc>
                <a:tc>
                  <a:txBody>
                    <a:bodyPr/>
                    <a:lstStyle/>
                    <a:p>
                      <a:pPr algn="ctr"/>
                      <a:r>
                        <a:rPr sz="1300">
                          <a:solidFill>
                            <a:srgbClr val="222222"/>
                          </a:solidFill>
                          <a:latin typeface="Calibri"/>
                        </a:rPr>
                        <a:t>9 / 8 GW</a:t>
                      </a:r>
                    </a:p>
                  </a:txBody>
                  <a:tcPr marT="12700" marB="12700" anchor="ctr">
                    <a:solidFill>
                      <a:srgbClr val="FFFFFF"/>
                    </a:solidFill>
                  </a:tcPr>
                </a:tc>
                <a:tc>
                  <a:txBody>
                    <a:bodyPr/>
                    <a:lstStyle/>
                    <a:p>
                      <a:pPr algn="ctr"/>
                      <a:r>
                        <a:rPr sz="1300">
                          <a:solidFill>
                            <a:srgbClr val="222222"/>
                          </a:solidFill>
                          <a:latin typeface="Calibri"/>
                        </a:rPr>
                        <a:t>KVBG coal-exit</a:t>
                      </a:r>
                    </a:p>
                  </a:txBody>
                  <a:tcPr marT="12700" marB="12700" anchor="ctr">
                    <a:solidFill>
                      <a:srgbClr val="FFFFFF"/>
                    </a:solidFill>
                  </a:tcPr>
                </a:tc>
              </a:tr>
              <a:tr h="457200">
                <a:tc>
                  <a:txBody>
                    <a:bodyPr/>
                    <a:lstStyle/>
                    <a:p>
                      <a:pPr algn="l"/>
                      <a:r>
                        <a:rPr sz="1300">
                          <a:solidFill>
                            <a:srgbClr val="222222"/>
                          </a:solidFill>
                          <a:latin typeface="Calibri"/>
                        </a:rPr>
                        <a:t>Existing gas CCGT / OCGT</a:t>
                      </a:r>
                    </a:p>
                  </a:txBody>
                  <a:tcPr marT="12700" marB="12700" anchor="ctr">
                    <a:solidFill>
                      <a:srgbClr val="EEF3F8"/>
                    </a:solidFill>
                  </a:tcPr>
                </a:tc>
                <a:tc>
                  <a:txBody>
                    <a:bodyPr/>
                    <a:lstStyle/>
                    <a:p>
                      <a:pPr algn="ctr"/>
                      <a:r>
                        <a:rPr sz="1300">
                          <a:solidFill>
                            <a:srgbClr val="222222"/>
                          </a:solidFill>
                          <a:latin typeface="Calibri"/>
                        </a:rPr>
                        <a:t>20 / 14 GW</a:t>
                      </a:r>
                    </a:p>
                  </a:txBody>
                  <a:tcPr marT="12700" marB="12700" anchor="ctr">
                    <a:solidFill>
                      <a:srgbClr val="EEF3F8"/>
                    </a:solidFill>
                  </a:tcPr>
                </a:tc>
                <a:tc>
                  <a:txBody>
                    <a:bodyPr/>
                    <a:lstStyle/>
                    <a:p>
                      <a:pPr algn="ctr"/>
                      <a:r>
                        <a:rPr sz="1300">
                          <a:solidFill>
                            <a:srgbClr val="222222"/>
                          </a:solidFill>
                          <a:latin typeface="Calibri"/>
                        </a:rPr>
                        <a:t>ENTSO-E / BNetzA</a:t>
                      </a:r>
                    </a:p>
                  </a:txBody>
                  <a:tcPr marT="12700" marB="12700" anchor="ctr">
                    <a:solidFill>
                      <a:srgbClr val="EEF3F8"/>
                    </a:solidFill>
                  </a:tcPr>
                </a:tc>
              </a:tr>
              <a:tr h="457200">
                <a:tc>
                  <a:txBody>
                    <a:bodyPr/>
                    <a:lstStyle/>
                    <a:p>
                      <a:pPr algn="l"/>
                      <a:r>
                        <a:rPr sz="1300">
                          <a:solidFill>
                            <a:srgbClr val="222222"/>
                          </a:solidFill>
                          <a:latin typeface="Calibri"/>
                        </a:rPr>
                        <a:t>New H₂-ready CCGT (Scenario B)</a:t>
                      </a:r>
                    </a:p>
                  </a:txBody>
                  <a:tcPr marT="12700" marB="12700" anchor="ctr">
                    <a:solidFill>
                      <a:srgbClr val="FFFFFF"/>
                    </a:solidFill>
                  </a:tcPr>
                </a:tc>
                <a:tc>
                  <a:txBody>
                    <a:bodyPr/>
                    <a:lstStyle/>
                    <a:p>
                      <a:pPr algn="ctr"/>
                      <a:r>
                        <a:rPr sz="1300">
                          <a:solidFill>
                            <a:srgbClr val="222222"/>
                          </a:solidFill>
                          <a:latin typeface="Calibri"/>
                        </a:rPr>
                        <a:t>+10 GW (η 60%)</a:t>
                      </a:r>
                    </a:p>
                  </a:txBody>
                  <a:tcPr marT="12700" marB="12700" anchor="ctr">
                    <a:solidFill>
                      <a:srgbClr val="FFFFFF"/>
                    </a:solidFill>
                  </a:tcPr>
                </a:tc>
                <a:tc>
                  <a:txBody>
                    <a:bodyPr/>
                    <a:lstStyle/>
                    <a:p>
                      <a:pPr algn="ctr"/>
                      <a:r>
                        <a:rPr sz="1300">
                          <a:solidFill>
                            <a:srgbClr val="222222"/>
                          </a:solidFill>
                          <a:latin typeface="Calibri"/>
                        </a:rPr>
                        <a:t>Kraftwerksstrategie; Danish Energy Agency</a:t>
                      </a:r>
                    </a:p>
                  </a:txBody>
                  <a:tcPr marT="12700" marB="12700" anchor="ctr">
                    <a:solidFill>
                      <a:srgbClr val="FFFFFF"/>
                    </a:solidFill>
                  </a:tcPr>
                </a:tc>
              </a:tr>
              <a:tr h="457200">
                <a:tc>
                  <a:txBody>
                    <a:bodyPr/>
                    <a:lstStyle/>
                    <a:p>
                      <a:pPr algn="l"/>
                      <a:r>
                        <a:rPr sz="1300">
                          <a:solidFill>
                            <a:srgbClr val="222222"/>
                          </a:solidFill>
                          <a:latin typeface="Calibri"/>
                        </a:rPr>
                        <a:t>Battery / pumped-hydro storage</a:t>
                      </a:r>
                    </a:p>
                  </a:txBody>
                  <a:tcPr marT="12700" marB="12700" anchor="ctr">
                    <a:solidFill>
                      <a:srgbClr val="EEF3F8"/>
                    </a:solidFill>
                  </a:tcPr>
                </a:tc>
                <a:tc>
                  <a:txBody>
                    <a:bodyPr/>
                    <a:lstStyle/>
                    <a:p>
                      <a:pPr algn="ctr"/>
                      <a:r>
                        <a:rPr sz="1300">
                          <a:solidFill>
                            <a:srgbClr val="222222"/>
                          </a:solidFill>
                          <a:latin typeface="Calibri"/>
                        </a:rPr>
                        <a:t>25 / 9.4 GW</a:t>
                      </a:r>
                    </a:p>
                  </a:txBody>
                  <a:tcPr marT="12700" marB="12700" anchor="ctr">
                    <a:solidFill>
                      <a:srgbClr val="EEF3F8"/>
                    </a:solidFill>
                  </a:tcPr>
                </a:tc>
                <a:tc>
                  <a:txBody>
                    <a:bodyPr/>
                    <a:lstStyle/>
                    <a:p>
                      <a:pPr algn="ctr"/>
                      <a:r>
                        <a:rPr sz="1300">
                          <a:solidFill>
                            <a:srgbClr val="222222"/>
                          </a:solidFill>
                          <a:latin typeface="Calibri"/>
                        </a:rPr>
                        <a:t>NEP 2025</a:t>
                      </a:r>
                    </a:p>
                  </a:txBody>
                  <a:tcPr marT="12700" marB="12700" anchor="ctr">
                    <a:solidFill>
                      <a:srgbClr val="EEF3F8"/>
                    </a:solidFill>
                  </a:tcPr>
                </a:tc>
              </a:tr>
              <a:tr h="457200">
                <a:tc>
                  <a:txBody>
                    <a:bodyPr/>
                    <a:lstStyle/>
                    <a:p>
                      <a:pPr algn="l"/>
                      <a:r>
                        <a:rPr sz="1300">
                          <a:solidFill>
                            <a:srgbClr val="222222"/>
                          </a:solidFill>
                          <a:latin typeface="Calibri"/>
                        </a:rPr>
                        <a:t>CO₂ (EUA) price</a:t>
                      </a:r>
                    </a:p>
                  </a:txBody>
                  <a:tcPr marT="12700" marB="12700" anchor="ctr">
                    <a:solidFill>
                      <a:srgbClr val="FFFFFF"/>
                    </a:solidFill>
                  </a:tcPr>
                </a:tc>
                <a:tc>
                  <a:txBody>
                    <a:bodyPr/>
                    <a:lstStyle/>
                    <a:p>
                      <a:pPr algn="ctr"/>
                      <a:r>
                        <a:rPr sz="1300">
                          <a:solidFill>
                            <a:srgbClr val="222222"/>
                          </a:solidFill>
                          <a:latin typeface="Calibri"/>
                        </a:rPr>
                        <a:t>110 EUR/t</a:t>
                      </a:r>
                    </a:p>
                  </a:txBody>
                  <a:tcPr marT="12700" marB="12700" anchor="ctr">
                    <a:solidFill>
                      <a:srgbClr val="FFFFFF"/>
                    </a:solidFill>
                  </a:tcPr>
                </a:tc>
                <a:tc>
                  <a:txBody>
                    <a:bodyPr/>
                    <a:lstStyle/>
                    <a:p>
                      <a:pPr algn="ctr"/>
                      <a:r>
                        <a:rPr sz="1300">
                          <a:solidFill>
                            <a:srgbClr val="222222"/>
                          </a:solidFill>
                          <a:latin typeface="Calibri"/>
                        </a:rPr>
                        <a:t>NEP / Langfristszenarien</a:t>
                      </a:r>
                    </a:p>
                  </a:txBody>
                  <a:tcPr marT="12700" marB="12700" anchor="ctr">
                    <a:solidFill>
                      <a:srgbClr val="FFFFFF"/>
                    </a:solidFill>
                  </a:tcPr>
                </a:tc>
              </a:tr>
              <a:tr h="457200">
                <a:tc>
                  <a:txBody>
                    <a:bodyPr/>
                    <a:lstStyle/>
                    <a:p>
                      <a:pPr algn="l"/>
                      <a:r>
                        <a:rPr sz="1300">
                          <a:solidFill>
                            <a:srgbClr val="222222"/>
                          </a:solidFill>
                          <a:latin typeface="Calibri"/>
                        </a:rPr>
                        <a:t>Gas / hard-coal fuel price</a:t>
                      </a:r>
                    </a:p>
                  </a:txBody>
                  <a:tcPr marT="12700" marB="12700" anchor="ctr">
                    <a:solidFill>
                      <a:srgbClr val="EEF3F8"/>
                    </a:solidFill>
                  </a:tcPr>
                </a:tc>
                <a:tc>
                  <a:txBody>
                    <a:bodyPr/>
                    <a:lstStyle/>
                    <a:p>
                      <a:pPr algn="ctr"/>
                      <a:r>
                        <a:rPr sz="1300">
                          <a:solidFill>
                            <a:srgbClr val="222222"/>
                          </a:solidFill>
                          <a:latin typeface="Calibri"/>
                        </a:rPr>
                        <a:t>30 / 11 EUR/MWh_th</a:t>
                      </a:r>
                    </a:p>
                  </a:txBody>
                  <a:tcPr marT="12700" marB="12700" anchor="ctr">
                    <a:solidFill>
                      <a:srgbClr val="EEF3F8"/>
                    </a:solidFill>
                  </a:tcPr>
                </a:tc>
                <a:tc>
                  <a:txBody>
                    <a:bodyPr/>
                    <a:lstStyle/>
                    <a:p>
                      <a:pPr algn="ctr"/>
                      <a:r>
                        <a:rPr sz="1300">
                          <a:solidFill>
                            <a:srgbClr val="222222"/>
                          </a:solidFill>
                          <a:latin typeface="Calibri"/>
                        </a:rPr>
                        <a:t>Scenario assumption</a:t>
                      </a:r>
                    </a:p>
                  </a:txBody>
                  <a:tcPr marT="12700" marB="12700" anchor="ctr">
                    <a:solidFill>
                      <a:srgbClr val="EEF3F8"/>
                    </a:solidFill>
                  </a:tcPr>
                </a:tc>
              </a:tr>
              <a:tr h="457200">
                <a:tc>
                  <a:txBody>
                    <a:bodyPr/>
                    <a:lstStyle/>
                    <a:p>
                      <a:pPr algn="l"/>
                      <a:r>
                        <a:rPr sz="1300">
                          <a:solidFill>
                            <a:srgbClr val="222222"/>
                          </a:solidFill>
                          <a:latin typeface="Calibri"/>
                        </a:rPr>
                        <a:t>Value of lost load (VOLL)</a:t>
                      </a:r>
                    </a:p>
                  </a:txBody>
                  <a:tcPr marT="12700" marB="12700" anchor="ctr">
                    <a:solidFill>
                      <a:srgbClr val="FFFFFF"/>
                    </a:solidFill>
                  </a:tcPr>
                </a:tc>
                <a:tc>
                  <a:txBody>
                    <a:bodyPr/>
                    <a:lstStyle/>
                    <a:p>
                      <a:pPr algn="ctr"/>
                      <a:r>
                        <a:rPr sz="1300">
                          <a:solidFill>
                            <a:srgbClr val="222222"/>
                          </a:solidFill>
                          <a:latin typeface="Calibri"/>
                        </a:rPr>
                        <a:t>3000 EUR/MWh</a:t>
                      </a:r>
                    </a:p>
                  </a:txBody>
                  <a:tcPr marT="12700" marB="12700" anchor="ctr">
                    <a:solidFill>
                      <a:srgbClr val="FFFFFF"/>
                    </a:solidFill>
                  </a:tcPr>
                </a:tc>
                <a:tc>
                  <a:txBody>
                    <a:bodyPr/>
                    <a:lstStyle/>
                    <a:p>
                      <a:pPr algn="ctr"/>
                      <a:r>
                        <a:rPr sz="1300">
                          <a:solidFill>
                            <a:srgbClr val="222222"/>
                          </a:solidFill>
                          <a:latin typeface="Calibri"/>
                        </a:rPr>
                        <a:t>ACER / ENTSO-E ERAA</a:t>
                      </a:r>
                    </a:p>
                  </a:txBody>
                  <a:tcPr marT="12700" marB="12700" anchor="ctr">
                    <a:solidFill>
                      <a:srgbClr val="FFFFFF"/>
                    </a:solidFill>
                  </a:tcPr>
                </a:tc>
              </a:tr>
              <a:tr h="457200">
                <a:tc>
                  <a:txBody>
                    <a:bodyPr/>
                    <a:lstStyle/>
                    <a:p>
                      <a:pPr algn="l"/>
                      <a:r>
                        <a:rPr sz="1300">
                          <a:solidFill>
                            <a:srgbClr val="222222"/>
                          </a:solidFill>
                          <a:latin typeface="Calibri"/>
                        </a:rPr>
                        <a:t>Cross-border imports</a:t>
                      </a:r>
                    </a:p>
                  </a:txBody>
                  <a:tcPr marT="12700" marB="12700" anchor="ctr">
                    <a:solidFill>
                      <a:srgbClr val="EEF3F8"/>
                    </a:solidFill>
                  </a:tcPr>
                </a:tc>
                <a:tc>
                  <a:txBody>
                    <a:bodyPr/>
                    <a:lstStyle/>
                    <a:p>
                      <a:pPr algn="ctr"/>
                      <a:r>
                        <a:rPr sz="1300">
                          <a:solidFill>
                            <a:srgbClr val="222222"/>
                          </a:solidFill>
                          <a:latin typeface="Calibri"/>
                        </a:rPr>
                        <a:t>&lt;=20 GW at 150 EUR/MWh</a:t>
                      </a:r>
                    </a:p>
                  </a:txBody>
                  <a:tcPr marT="12700" marB="12700" anchor="ctr">
                    <a:solidFill>
                      <a:srgbClr val="EEF3F8"/>
                    </a:solidFill>
                  </a:tcPr>
                </a:tc>
                <a:tc>
                  <a:txBody>
                    <a:bodyPr/>
                    <a:lstStyle/>
                    <a:p>
                      <a:pPr algn="ctr"/>
                      <a:r>
                        <a:rPr sz="1300">
                          <a:solidFill>
                            <a:srgbClr val="222222"/>
                          </a:solidFill>
                          <a:latin typeface="Calibri"/>
                        </a:rPr>
                        <a:t>~German NTC; stress price</a:t>
                      </a:r>
                    </a:p>
                  </a:txBody>
                  <a:tcPr marT="12700" marB="12700" anchor="ctr">
                    <a:solidFill>
                      <a:srgbClr val="EEF3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Wholesale Prices — Without (A) vs With (B)</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2 · Model</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13</a:t>
            </a:r>
          </a:p>
        </p:txBody>
      </p:sp>
      <p:pic>
        <p:nvPicPr>
          <p:cNvPr id="8" name="Picture 7" descr="fig1_price_duration_curve.png"/>
          <p:cNvPicPr>
            <a:picLocks noChangeAspect="1"/>
          </p:cNvPicPr>
          <p:nvPr/>
        </p:nvPicPr>
        <p:blipFill>
          <a:blip r:embed="rId2"/>
          <a:stretch>
            <a:fillRect/>
          </a:stretch>
        </p:blipFill>
        <p:spPr>
          <a:xfrm>
            <a:off x="2871216" y="1143000"/>
            <a:ext cx="6510528" cy="4069080"/>
          </a:xfrm>
          <a:prstGeom prst="rect">
            <a:avLst/>
          </a:prstGeom>
        </p:spPr>
      </p:pic>
      <p:sp>
        <p:nvSpPr>
          <p:cNvPr id="9" name="Rectangle 8"/>
          <p:cNvSpPr/>
          <p:nvPr/>
        </p:nvSpPr>
        <p:spPr>
          <a:xfrm>
            <a:off x="640080" y="5321808"/>
            <a:ext cx="164592" cy="56692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607040" cy="640080"/>
          </a:xfrm>
          <a:prstGeom prst="rect">
            <a:avLst/>
          </a:prstGeom>
          <a:noFill/>
        </p:spPr>
        <p:txBody>
          <a:bodyPr wrap="square" anchor="ctr" lIns="25400" rIns="25400" tIns="12700" bIns="12700">
            <a:spAutoFit/>
          </a:bodyPr>
          <a:lstStyle/>
          <a:p>
            <a:pPr algn="l">
              <a:spcAft>
                <a:spcPts val="0"/>
              </a:spcAft>
            </a:pPr>
            <a:r>
              <a:rPr sz="1550" b="1" i="0">
                <a:solidFill>
                  <a:srgbClr val="003560"/>
                </a:solidFill>
                <a:latin typeface="Calibri"/>
              </a:rPr>
              <a:t>Mean price €113 → €93/MWh; volatility -80%. The new capacity removes the extreme price spikes.</a:t>
            </a:r>
          </a:p>
        </p:txBody>
      </p:sp>
      <p:sp>
        <p:nvSpPr>
          <p:cNvPr id="11" name="TextBox 10"/>
          <p:cNvSpPr txBox="1"/>
          <p:nvPr/>
        </p:nvSpPr>
        <p:spPr>
          <a:xfrm>
            <a:off x="640080" y="5943600"/>
            <a:ext cx="10972800" cy="365760"/>
          </a:xfrm>
          <a:prstGeom prst="rect">
            <a:avLst/>
          </a:prstGeom>
          <a:noFill/>
        </p:spPr>
        <p:txBody>
          <a:bodyPr wrap="square" anchor="t" lIns="25400" rIns="25400" tIns="12700" bIns="12700">
            <a:spAutoFit/>
          </a:bodyPr>
          <a:lstStyle/>
          <a:p>
            <a:pPr algn="ctr">
              <a:spcAft>
                <a:spcPts val="0"/>
              </a:spcAft>
            </a:pPr>
            <a:r>
              <a:rPr sz="1200" b="0" i="1">
                <a:solidFill>
                  <a:srgbClr val="666666"/>
                </a:solidFill>
                <a:latin typeface="Calibri"/>
              </a:rPr>
              <a:t>Price-duration curve, 2030 — Scenario A (no CRM) vs Scenario B (+10 GW).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Security of Supply — Without (A) vs With (B)</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2 · Model</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14</a:t>
            </a:r>
          </a:p>
        </p:txBody>
      </p:sp>
      <p:pic>
        <p:nvPicPr>
          <p:cNvPr id="8" name="Picture 7" descr="fig5_scarcity_comparison.png"/>
          <p:cNvPicPr>
            <a:picLocks noChangeAspect="1"/>
          </p:cNvPicPr>
          <p:nvPr/>
        </p:nvPicPr>
        <p:blipFill>
          <a:blip r:embed="rId2"/>
          <a:stretch>
            <a:fillRect/>
          </a:stretch>
        </p:blipFill>
        <p:spPr>
          <a:xfrm>
            <a:off x="1605280" y="1143000"/>
            <a:ext cx="9042400" cy="4069080"/>
          </a:xfrm>
          <a:prstGeom prst="rect">
            <a:avLst/>
          </a:prstGeom>
        </p:spPr>
      </p:pic>
      <p:sp>
        <p:nvSpPr>
          <p:cNvPr id="9" name="Rectangle 8"/>
          <p:cNvSpPr/>
          <p:nvPr/>
        </p:nvSpPr>
        <p:spPr>
          <a:xfrm>
            <a:off x="640080" y="5321808"/>
            <a:ext cx="164592" cy="56692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607040" cy="640080"/>
          </a:xfrm>
          <a:prstGeom prst="rect">
            <a:avLst/>
          </a:prstGeom>
          <a:noFill/>
        </p:spPr>
        <p:txBody>
          <a:bodyPr wrap="square" anchor="ctr" lIns="25400" rIns="25400" tIns="12700" bIns="12700">
            <a:spAutoFit/>
          </a:bodyPr>
          <a:lstStyle/>
          <a:p>
            <a:pPr algn="l">
              <a:spcAft>
                <a:spcPts val="0"/>
              </a:spcAft>
            </a:pPr>
            <a:r>
              <a:rPr sz="1550" b="1" i="0">
                <a:solidFill>
                  <a:srgbClr val="003560"/>
                </a:solidFill>
                <a:latin typeface="Calibri"/>
              </a:rPr>
              <a:t>Scarcity hours 8 -&gt; 0; unserved energy 32 -&gt; 0 GWh.</a:t>
            </a:r>
          </a:p>
        </p:txBody>
      </p:sp>
      <p:sp>
        <p:nvSpPr>
          <p:cNvPr id="11" name="TextBox 10"/>
          <p:cNvSpPr txBox="1"/>
          <p:nvPr/>
        </p:nvSpPr>
        <p:spPr>
          <a:xfrm>
            <a:off x="640080" y="5943600"/>
            <a:ext cx="10972800" cy="365760"/>
          </a:xfrm>
          <a:prstGeom prst="rect">
            <a:avLst/>
          </a:prstGeom>
          <a:noFill/>
        </p:spPr>
        <p:txBody>
          <a:bodyPr wrap="square" anchor="t" lIns="25400" rIns="25400" tIns="12700" bIns="12700">
            <a:spAutoFit/>
          </a:bodyPr>
          <a:lstStyle/>
          <a:p>
            <a:pPr algn="ctr">
              <a:spcAft>
                <a:spcPts val="0"/>
              </a:spcAft>
            </a:pPr>
            <a:r>
              <a:rPr sz="1200" b="0" i="1">
                <a:solidFill>
                  <a:srgbClr val="666666"/>
                </a:solidFill>
                <a:latin typeface="Calibri"/>
              </a:rPr>
              <a:t>Loss-of-load hours and unserved energy, 2030 — Scenario A vs 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Gas-Fleet Utilisation — Without (A) vs With (B)</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2 · Model</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15</a:t>
            </a:r>
          </a:p>
        </p:txBody>
      </p:sp>
      <p:pic>
        <p:nvPicPr>
          <p:cNvPr id="8" name="Picture 7" descr="fig3_gas_utilisation.png"/>
          <p:cNvPicPr>
            <a:picLocks noChangeAspect="1"/>
          </p:cNvPicPr>
          <p:nvPr/>
        </p:nvPicPr>
        <p:blipFill>
          <a:blip r:embed="rId2"/>
          <a:stretch>
            <a:fillRect/>
          </a:stretch>
        </p:blipFill>
        <p:spPr>
          <a:xfrm>
            <a:off x="2871216" y="1143000"/>
            <a:ext cx="6510528" cy="4069080"/>
          </a:xfrm>
          <a:prstGeom prst="rect">
            <a:avLst/>
          </a:prstGeom>
        </p:spPr>
      </p:pic>
      <p:sp>
        <p:nvSpPr>
          <p:cNvPr id="9" name="Rectangle 8"/>
          <p:cNvSpPr/>
          <p:nvPr/>
        </p:nvSpPr>
        <p:spPr>
          <a:xfrm>
            <a:off x="640080" y="5321808"/>
            <a:ext cx="164592" cy="56692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607040" cy="640080"/>
          </a:xfrm>
          <a:prstGeom prst="rect">
            <a:avLst/>
          </a:prstGeom>
          <a:noFill/>
        </p:spPr>
        <p:txBody>
          <a:bodyPr wrap="square" anchor="ctr" lIns="25400" rIns="25400" tIns="12700" bIns="12700">
            <a:spAutoFit/>
          </a:bodyPr>
          <a:lstStyle/>
          <a:p>
            <a:pPr algn="l">
              <a:spcAft>
                <a:spcPts val="0"/>
              </a:spcAft>
            </a:pPr>
            <a:r>
              <a:rPr sz="1550" b="1" i="0">
                <a:solidFill>
                  <a:srgbClr val="003560"/>
                </a:solidFill>
                <a:latin typeface="Calibri"/>
              </a:rPr>
              <a:t>CCGT full-load hours 5517 -&gt; 4926 (-11%): the capacity-dilution effect.</a:t>
            </a:r>
          </a:p>
        </p:txBody>
      </p:sp>
      <p:sp>
        <p:nvSpPr>
          <p:cNvPr id="11" name="TextBox 10"/>
          <p:cNvSpPr txBox="1"/>
          <p:nvPr/>
        </p:nvSpPr>
        <p:spPr>
          <a:xfrm>
            <a:off x="640080" y="5943600"/>
            <a:ext cx="10972800" cy="365760"/>
          </a:xfrm>
          <a:prstGeom prst="rect">
            <a:avLst/>
          </a:prstGeom>
          <a:noFill/>
        </p:spPr>
        <p:txBody>
          <a:bodyPr wrap="square" anchor="t" lIns="25400" rIns="25400" tIns="12700" bIns="12700">
            <a:spAutoFit/>
          </a:bodyPr>
          <a:lstStyle/>
          <a:p>
            <a:pPr algn="ctr">
              <a:spcAft>
                <a:spcPts val="0"/>
              </a:spcAft>
            </a:pPr>
            <a:r>
              <a:rPr sz="1200" b="0" i="1">
                <a:solidFill>
                  <a:srgbClr val="666666"/>
                </a:solidFill>
                <a:latin typeface="Calibri"/>
              </a:rPr>
              <a:t>Gas-fleet full-load hours, 2030 — Scenario A vs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Renewable Curtailment — Without (A) vs With (B)</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2 · Model</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16</a:t>
            </a:r>
          </a:p>
        </p:txBody>
      </p:sp>
      <p:pic>
        <p:nvPicPr>
          <p:cNvPr id="8" name="Picture 7" descr="fig4_curtailment.png"/>
          <p:cNvPicPr>
            <a:picLocks noChangeAspect="1"/>
          </p:cNvPicPr>
          <p:nvPr/>
        </p:nvPicPr>
        <p:blipFill>
          <a:blip r:embed="rId2"/>
          <a:stretch>
            <a:fillRect/>
          </a:stretch>
        </p:blipFill>
        <p:spPr>
          <a:xfrm>
            <a:off x="3278124" y="1143000"/>
            <a:ext cx="5696712" cy="4069080"/>
          </a:xfrm>
          <a:prstGeom prst="rect">
            <a:avLst/>
          </a:prstGeom>
        </p:spPr>
      </p:pic>
      <p:sp>
        <p:nvSpPr>
          <p:cNvPr id="9" name="Rectangle 8"/>
          <p:cNvSpPr/>
          <p:nvPr/>
        </p:nvSpPr>
        <p:spPr>
          <a:xfrm>
            <a:off x="640080" y="5321808"/>
            <a:ext cx="164592" cy="56692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607040" cy="640080"/>
          </a:xfrm>
          <a:prstGeom prst="rect">
            <a:avLst/>
          </a:prstGeom>
          <a:noFill/>
        </p:spPr>
        <p:txBody>
          <a:bodyPr wrap="square" anchor="ctr" lIns="25400" rIns="25400" tIns="12700" bIns="12700">
            <a:spAutoFit/>
          </a:bodyPr>
          <a:lstStyle/>
          <a:p>
            <a:pPr algn="l">
              <a:spcAft>
                <a:spcPts val="0"/>
              </a:spcAft>
            </a:pPr>
            <a:r>
              <a:rPr sz="1550" b="1" i="0">
                <a:solidFill>
                  <a:srgbClr val="003560"/>
                </a:solidFill>
                <a:latin typeface="Calibri"/>
              </a:rPr>
              <a:t>Curtailment unchanged at 2.5% - firm capacity does not run in renewable-surplus hours.</a:t>
            </a:r>
          </a:p>
        </p:txBody>
      </p:sp>
      <p:sp>
        <p:nvSpPr>
          <p:cNvPr id="11" name="TextBox 10"/>
          <p:cNvSpPr txBox="1"/>
          <p:nvPr/>
        </p:nvSpPr>
        <p:spPr>
          <a:xfrm>
            <a:off x="640080" y="5943600"/>
            <a:ext cx="10972800" cy="365760"/>
          </a:xfrm>
          <a:prstGeom prst="rect">
            <a:avLst/>
          </a:prstGeom>
          <a:noFill/>
        </p:spPr>
        <p:txBody>
          <a:bodyPr wrap="square" anchor="t" lIns="25400" rIns="25400" tIns="12700" bIns="12700">
            <a:spAutoFit/>
          </a:bodyPr>
          <a:lstStyle/>
          <a:p>
            <a:pPr algn="ctr">
              <a:spcAft>
                <a:spcPts val="0"/>
              </a:spcAft>
            </a:pPr>
            <a:r>
              <a:rPr sz="1200" b="0" i="1">
                <a:solidFill>
                  <a:srgbClr val="666666"/>
                </a:solidFill>
                <a:latin typeface="Calibri"/>
              </a:rPr>
              <a:t>Annual renewable curtailment, 2030 — Scenario A vs 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A Winter Week — Without (A) vs With (B)</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2 · Model</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17</a:t>
            </a:r>
          </a:p>
        </p:txBody>
      </p:sp>
      <p:pic>
        <p:nvPicPr>
          <p:cNvPr id="8" name="Picture 7" descr="fig6_weekly_dispatch.png"/>
          <p:cNvPicPr>
            <a:picLocks noChangeAspect="1"/>
          </p:cNvPicPr>
          <p:nvPr/>
        </p:nvPicPr>
        <p:blipFill>
          <a:blip r:embed="rId2"/>
          <a:stretch>
            <a:fillRect/>
          </a:stretch>
        </p:blipFill>
        <p:spPr>
          <a:xfrm>
            <a:off x="3219994" y="1143000"/>
            <a:ext cx="5812971" cy="4069080"/>
          </a:xfrm>
          <a:prstGeom prst="rect">
            <a:avLst/>
          </a:prstGeom>
        </p:spPr>
      </p:pic>
      <p:sp>
        <p:nvSpPr>
          <p:cNvPr id="9" name="Rectangle 8"/>
          <p:cNvSpPr/>
          <p:nvPr/>
        </p:nvSpPr>
        <p:spPr>
          <a:xfrm>
            <a:off x="640080" y="5321808"/>
            <a:ext cx="164592" cy="56692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607040" cy="640080"/>
          </a:xfrm>
          <a:prstGeom prst="rect">
            <a:avLst/>
          </a:prstGeom>
          <a:noFill/>
        </p:spPr>
        <p:txBody>
          <a:bodyPr wrap="square" anchor="ctr" lIns="25400" rIns="25400" tIns="12700" bIns="12700">
            <a:spAutoFit/>
          </a:bodyPr>
          <a:lstStyle/>
          <a:p>
            <a:pPr algn="l">
              <a:spcAft>
                <a:spcPts val="0"/>
              </a:spcAft>
            </a:pPr>
            <a:r>
              <a:rPr sz="1550" b="1" i="0">
                <a:solidFill>
                  <a:srgbClr val="003560"/>
                </a:solidFill>
                <a:latin typeface="Calibri"/>
              </a:rPr>
              <a:t>Scenario A reaches scarcity in the tightest winter hours; in B the new CCGT covers the same load comfortably.</a:t>
            </a:r>
          </a:p>
        </p:txBody>
      </p:sp>
      <p:sp>
        <p:nvSpPr>
          <p:cNvPr id="11" name="TextBox 10"/>
          <p:cNvSpPr txBox="1"/>
          <p:nvPr/>
        </p:nvSpPr>
        <p:spPr>
          <a:xfrm>
            <a:off x="640080" y="5943600"/>
            <a:ext cx="10972800" cy="365760"/>
          </a:xfrm>
          <a:prstGeom prst="rect">
            <a:avLst/>
          </a:prstGeom>
          <a:noFill/>
        </p:spPr>
        <p:txBody>
          <a:bodyPr wrap="square" anchor="t" lIns="25400" rIns="25400" tIns="12700" bIns="12700">
            <a:spAutoFit/>
          </a:bodyPr>
          <a:lstStyle/>
          <a:p>
            <a:pPr algn="ctr">
              <a:spcAft>
                <a:spcPts val="0"/>
              </a:spcAft>
            </a:pPr>
            <a:r>
              <a:rPr sz="1200" b="0" i="1">
                <a:solidFill>
                  <a:srgbClr val="666666"/>
                </a:solidFill>
                <a:latin typeface="Calibri"/>
              </a:rPr>
              <a:t>Hourly dispatch, second week of January 2030 — Scenario A (top) vs B (bottom).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Results Summary — Without (A) vs With (B)</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PART 2 · Model</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18</a:t>
            </a:r>
          </a:p>
        </p:txBody>
      </p:sp>
      <p:graphicFrame>
        <p:nvGraphicFramePr>
          <p:cNvPr id="8" name="Table 7"/>
          <p:cNvGraphicFramePr>
            <a:graphicFrameLocks noGrp="1"/>
          </p:cNvGraphicFramePr>
          <p:nvPr/>
        </p:nvGraphicFramePr>
        <p:xfrm>
          <a:off x="640080" y="1280160"/>
          <a:ext cx="10927080" cy="4928616"/>
        </p:xfrm>
        <a:graphic>
          <a:graphicData uri="http://schemas.openxmlformats.org/drawingml/2006/table">
            <a:tbl>
              <a:tblPr>
                <a:tableStyleId>{5C22544A-7EE6-4342-B048-85BDC9FD1C3A}</a:tableStyleId>
              </a:tblPr>
              <a:tblGrid>
                <a:gridCol w="5623560"/>
                <a:gridCol w="1783080"/>
                <a:gridCol w="1783080"/>
                <a:gridCol w="1737360"/>
              </a:tblGrid>
              <a:tr h="448056">
                <a:tc>
                  <a:txBody>
                    <a:bodyPr/>
                    <a:lstStyle/>
                    <a:p>
                      <a:pPr algn="ctr"/>
                      <a:r>
                        <a:rPr sz="1300" b="1">
                          <a:solidFill>
                            <a:srgbClr val="FFFFFF"/>
                          </a:solidFill>
                          <a:latin typeface="Calibri"/>
                        </a:rPr>
                        <a:t>Metric</a:t>
                      </a:r>
                    </a:p>
                  </a:txBody>
                  <a:tcPr marT="25400" marB="25400" anchor="ctr">
                    <a:solidFill>
                      <a:srgbClr val="003560"/>
                    </a:solidFill>
                  </a:tcPr>
                </a:tc>
                <a:tc>
                  <a:txBody>
                    <a:bodyPr/>
                    <a:lstStyle/>
                    <a:p>
                      <a:pPr algn="ctr"/>
                      <a:r>
                        <a:rPr sz="1300" b="1">
                          <a:solidFill>
                            <a:srgbClr val="FFFFFF"/>
                          </a:solidFill>
                          <a:latin typeface="Calibri"/>
                        </a:rPr>
                        <a:t>Without (A)</a:t>
                      </a:r>
                    </a:p>
                  </a:txBody>
                  <a:tcPr marT="25400" marB="25400" anchor="ctr">
                    <a:solidFill>
                      <a:srgbClr val="003560"/>
                    </a:solidFill>
                  </a:tcPr>
                </a:tc>
                <a:tc>
                  <a:txBody>
                    <a:bodyPr/>
                    <a:lstStyle/>
                    <a:p>
                      <a:pPr algn="ctr"/>
                      <a:r>
                        <a:rPr sz="1300" b="1">
                          <a:solidFill>
                            <a:srgbClr val="FFFFFF"/>
                          </a:solidFill>
                          <a:latin typeface="Calibri"/>
                        </a:rPr>
                        <a:t>With (B)</a:t>
                      </a:r>
                    </a:p>
                  </a:txBody>
                  <a:tcPr marT="25400" marB="25400" anchor="ctr">
                    <a:solidFill>
                      <a:srgbClr val="003560"/>
                    </a:solidFill>
                  </a:tcPr>
                </a:tc>
                <a:tc>
                  <a:txBody>
                    <a:bodyPr/>
                    <a:lstStyle/>
                    <a:p>
                      <a:pPr algn="ctr"/>
                      <a:r>
                        <a:rPr sz="1300" b="1">
                          <a:solidFill>
                            <a:srgbClr val="FFFFFF"/>
                          </a:solidFill>
                          <a:latin typeface="Calibri"/>
                        </a:rPr>
                        <a:t>Change</a:t>
                      </a:r>
                    </a:p>
                  </a:txBody>
                  <a:tcPr marT="25400" marB="25400" anchor="ctr">
                    <a:solidFill>
                      <a:srgbClr val="003560"/>
                    </a:solidFill>
                  </a:tcPr>
                </a:tc>
              </a:tr>
              <a:tr h="448056">
                <a:tc>
                  <a:txBody>
                    <a:bodyPr/>
                    <a:lstStyle/>
                    <a:p>
                      <a:pPr algn="l"/>
                      <a:r>
                        <a:rPr sz="1250">
                          <a:solidFill>
                            <a:srgbClr val="222222"/>
                          </a:solidFill>
                          <a:latin typeface="Calibri"/>
                        </a:rPr>
                        <a:t>Mean wholesale price (EUR/MWh)</a:t>
                      </a:r>
                    </a:p>
                  </a:txBody>
                  <a:tcPr marT="12700" marB="12700" anchor="ctr">
                    <a:solidFill>
                      <a:srgbClr val="FFFFFF"/>
                    </a:solidFill>
                  </a:tcPr>
                </a:tc>
                <a:tc>
                  <a:txBody>
                    <a:bodyPr/>
                    <a:lstStyle/>
                    <a:p>
                      <a:pPr algn="ctr"/>
                      <a:r>
                        <a:rPr sz="1250">
                          <a:solidFill>
                            <a:srgbClr val="222222"/>
                          </a:solidFill>
                          <a:latin typeface="Calibri"/>
                        </a:rPr>
                        <a:t>113.0</a:t>
                      </a:r>
                    </a:p>
                  </a:txBody>
                  <a:tcPr marT="12700" marB="12700" anchor="ctr">
                    <a:solidFill>
                      <a:srgbClr val="FFFFFF"/>
                    </a:solidFill>
                  </a:tcPr>
                </a:tc>
                <a:tc>
                  <a:txBody>
                    <a:bodyPr/>
                    <a:lstStyle/>
                    <a:p>
                      <a:pPr algn="ctr"/>
                      <a:r>
                        <a:rPr sz="1250">
                          <a:solidFill>
                            <a:srgbClr val="222222"/>
                          </a:solidFill>
                          <a:latin typeface="Calibri"/>
                        </a:rPr>
                        <a:t>92.6</a:t>
                      </a:r>
                    </a:p>
                  </a:txBody>
                  <a:tcPr marT="12700" marB="12700" anchor="ctr">
                    <a:solidFill>
                      <a:srgbClr val="FFFFFF"/>
                    </a:solidFill>
                  </a:tcPr>
                </a:tc>
                <a:tc>
                  <a:txBody>
                    <a:bodyPr/>
                    <a:lstStyle/>
                    <a:p>
                      <a:pPr algn="ctr"/>
                      <a:r>
                        <a:rPr sz="1250">
                          <a:solidFill>
                            <a:srgbClr val="222222"/>
                          </a:solidFill>
                          <a:latin typeface="Calibri"/>
                        </a:rPr>
                        <a:t>-18.1%</a:t>
                      </a:r>
                    </a:p>
                  </a:txBody>
                  <a:tcPr marT="12700" marB="12700" anchor="ctr">
                    <a:solidFill>
                      <a:srgbClr val="FFFFFF"/>
                    </a:solidFill>
                  </a:tcPr>
                </a:tc>
              </a:tr>
              <a:tr h="448056">
                <a:tc>
                  <a:txBody>
                    <a:bodyPr/>
                    <a:lstStyle/>
                    <a:p>
                      <a:pPr algn="l"/>
                      <a:r>
                        <a:rPr sz="1250">
                          <a:solidFill>
                            <a:srgbClr val="222222"/>
                          </a:solidFill>
                          <a:latin typeface="Calibri"/>
                        </a:rPr>
                        <a:t>Price volatility, std (EUR/MWh)</a:t>
                      </a:r>
                    </a:p>
                  </a:txBody>
                  <a:tcPr marT="12700" marB="12700" anchor="ctr">
                    <a:solidFill>
                      <a:srgbClr val="EEF3F8"/>
                    </a:solidFill>
                  </a:tcPr>
                </a:tc>
                <a:tc>
                  <a:txBody>
                    <a:bodyPr/>
                    <a:lstStyle/>
                    <a:p>
                      <a:pPr algn="ctr"/>
                      <a:r>
                        <a:rPr sz="1250">
                          <a:solidFill>
                            <a:srgbClr val="222222"/>
                          </a:solidFill>
                          <a:latin typeface="Calibri"/>
                        </a:rPr>
                        <a:t>205.0</a:t>
                      </a:r>
                    </a:p>
                  </a:txBody>
                  <a:tcPr marT="12700" marB="12700" anchor="ctr">
                    <a:solidFill>
                      <a:srgbClr val="EEF3F8"/>
                    </a:solidFill>
                  </a:tcPr>
                </a:tc>
                <a:tc>
                  <a:txBody>
                    <a:bodyPr/>
                    <a:lstStyle/>
                    <a:p>
                      <a:pPr algn="ctr"/>
                      <a:r>
                        <a:rPr sz="1250">
                          <a:solidFill>
                            <a:srgbClr val="222222"/>
                          </a:solidFill>
                          <a:latin typeface="Calibri"/>
                        </a:rPr>
                        <a:t>40.2</a:t>
                      </a:r>
                    </a:p>
                  </a:txBody>
                  <a:tcPr marT="12700" marB="12700" anchor="ctr">
                    <a:solidFill>
                      <a:srgbClr val="EEF3F8"/>
                    </a:solidFill>
                  </a:tcPr>
                </a:tc>
                <a:tc>
                  <a:txBody>
                    <a:bodyPr/>
                    <a:lstStyle/>
                    <a:p>
                      <a:pPr algn="ctr"/>
                      <a:r>
                        <a:rPr sz="1250">
                          <a:solidFill>
                            <a:srgbClr val="222222"/>
                          </a:solidFill>
                          <a:latin typeface="Calibri"/>
                        </a:rPr>
                        <a:t>-80.4%</a:t>
                      </a:r>
                    </a:p>
                  </a:txBody>
                  <a:tcPr marT="12700" marB="12700" anchor="ctr">
                    <a:solidFill>
                      <a:srgbClr val="EEF3F8"/>
                    </a:solidFill>
                  </a:tcPr>
                </a:tc>
              </a:tr>
              <a:tr h="448056">
                <a:tc>
                  <a:txBody>
                    <a:bodyPr/>
                    <a:lstStyle/>
                    <a:p>
                      <a:pPr algn="l"/>
                      <a:r>
                        <a:rPr sz="1250">
                          <a:solidFill>
                            <a:srgbClr val="222222"/>
                          </a:solidFill>
                          <a:latin typeface="Calibri"/>
                        </a:rPr>
                        <a:t>Scarcity (loss-of-load) hours</a:t>
                      </a:r>
                    </a:p>
                  </a:txBody>
                  <a:tcPr marT="12700" marB="12700" anchor="ctr">
                    <a:solidFill>
                      <a:srgbClr val="FFFFFF"/>
                    </a:solidFill>
                  </a:tcPr>
                </a:tc>
                <a:tc>
                  <a:txBody>
                    <a:bodyPr/>
                    <a:lstStyle/>
                    <a:p>
                      <a:pPr algn="ctr"/>
                      <a:r>
                        <a:rPr sz="1250">
                          <a:solidFill>
                            <a:srgbClr val="222222"/>
                          </a:solidFill>
                          <a:latin typeface="Calibri"/>
                        </a:rPr>
                        <a:t>8</a:t>
                      </a:r>
                    </a:p>
                  </a:txBody>
                  <a:tcPr marT="12700" marB="12700" anchor="ctr">
                    <a:solidFill>
                      <a:srgbClr val="FFFFFF"/>
                    </a:solidFill>
                  </a:tcPr>
                </a:tc>
                <a:tc>
                  <a:txBody>
                    <a:bodyPr/>
                    <a:lstStyle/>
                    <a:p>
                      <a:pPr algn="ctr"/>
                      <a:r>
                        <a:rPr sz="1250">
                          <a:solidFill>
                            <a:srgbClr val="222222"/>
                          </a:solidFill>
                          <a:latin typeface="Calibri"/>
                        </a:rPr>
                        <a:t>0</a:t>
                      </a:r>
                    </a:p>
                  </a:txBody>
                  <a:tcPr marT="12700" marB="12700" anchor="ctr">
                    <a:solidFill>
                      <a:srgbClr val="FFFFFF"/>
                    </a:solidFill>
                  </a:tcPr>
                </a:tc>
                <a:tc>
                  <a:txBody>
                    <a:bodyPr/>
                    <a:lstStyle/>
                    <a:p>
                      <a:pPr algn="ctr"/>
                      <a:r>
                        <a:rPr sz="1250">
                          <a:solidFill>
                            <a:srgbClr val="222222"/>
                          </a:solidFill>
                          <a:latin typeface="Calibri"/>
                        </a:rPr>
                        <a:t>-100%</a:t>
                      </a:r>
                    </a:p>
                  </a:txBody>
                  <a:tcPr marT="12700" marB="12700" anchor="ctr">
                    <a:solidFill>
                      <a:srgbClr val="FFFFFF"/>
                    </a:solidFill>
                  </a:tcPr>
                </a:tc>
              </a:tr>
              <a:tr h="448056">
                <a:tc>
                  <a:txBody>
                    <a:bodyPr/>
                    <a:lstStyle/>
                    <a:p>
                      <a:pPr algn="l"/>
                      <a:r>
                        <a:rPr sz="1250">
                          <a:solidFill>
                            <a:srgbClr val="222222"/>
                          </a:solidFill>
                          <a:latin typeface="Calibri"/>
                        </a:rPr>
                        <a:t>Unserved energy (GWh/yr)</a:t>
                      </a:r>
                    </a:p>
                  </a:txBody>
                  <a:tcPr marT="12700" marB="12700" anchor="ctr">
                    <a:solidFill>
                      <a:srgbClr val="EEF3F8"/>
                    </a:solidFill>
                  </a:tcPr>
                </a:tc>
                <a:tc>
                  <a:txBody>
                    <a:bodyPr/>
                    <a:lstStyle/>
                    <a:p>
                      <a:pPr algn="ctr"/>
                      <a:r>
                        <a:rPr sz="1250">
                          <a:solidFill>
                            <a:srgbClr val="222222"/>
                          </a:solidFill>
                          <a:latin typeface="Calibri"/>
                        </a:rPr>
                        <a:t>32.2</a:t>
                      </a:r>
                    </a:p>
                  </a:txBody>
                  <a:tcPr marT="12700" marB="12700" anchor="ctr">
                    <a:solidFill>
                      <a:srgbClr val="EEF3F8"/>
                    </a:solidFill>
                  </a:tcPr>
                </a:tc>
                <a:tc>
                  <a:txBody>
                    <a:bodyPr/>
                    <a:lstStyle/>
                    <a:p>
                      <a:pPr algn="ctr"/>
                      <a:r>
                        <a:rPr sz="1250">
                          <a:solidFill>
                            <a:srgbClr val="222222"/>
                          </a:solidFill>
                          <a:latin typeface="Calibri"/>
                        </a:rPr>
                        <a:t>0.0</a:t>
                      </a:r>
                    </a:p>
                  </a:txBody>
                  <a:tcPr marT="12700" marB="12700" anchor="ctr">
                    <a:solidFill>
                      <a:srgbClr val="EEF3F8"/>
                    </a:solidFill>
                  </a:tcPr>
                </a:tc>
                <a:tc>
                  <a:txBody>
                    <a:bodyPr/>
                    <a:lstStyle/>
                    <a:p>
                      <a:pPr algn="ctr"/>
                      <a:r>
                        <a:rPr sz="1250">
                          <a:solidFill>
                            <a:srgbClr val="222222"/>
                          </a:solidFill>
                          <a:latin typeface="Calibri"/>
                        </a:rPr>
                        <a:t>-100%</a:t>
                      </a:r>
                    </a:p>
                  </a:txBody>
                  <a:tcPr marT="12700" marB="12700" anchor="ctr">
                    <a:solidFill>
                      <a:srgbClr val="EEF3F8"/>
                    </a:solidFill>
                  </a:tcPr>
                </a:tc>
              </a:tr>
              <a:tr h="448056">
                <a:tc>
                  <a:txBody>
                    <a:bodyPr/>
                    <a:lstStyle/>
                    <a:p>
                      <a:pPr algn="l"/>
                      <a:r>
                        <a:rPr sz="1250">
                          <a:solidFill>
                            <a:srgbClr val="222222"/>
                          </a:solidFill>
                          <a:latin typeface="Calibri"/>
                        </a:rPr>
                        <a:t>CCGT full-load hours (h/yr)</a:t>
                      </a:r>
                    </a:p>
                  </a:txBody>
                  <a:tcPr marT="12700" marB="12700" anchor="ctr">
                    <a:solidFill>
                      <a:srgbClr val="FFFFFF"/>
                    </a:solidFill>
                  </a:tcPr>
                </a:tc>
                <a:tc>
                  <a:txBody>
                    <a:bodyPr/>
                    <a:lstStyle/>
                    <a:p>
                      <a:pPr algn="ctr"/>
                      <a:r>
                        <a:rPr sz="1250">
                          <a:solidFill>
                            <a:srgbClr val="222222"/>
                          </a:solidFill>
                          <a:latin typeface="Calibri"/>
                        </a:rPr>
                        <a:t>5517</a:t>
                      </a:r>
                    </a:p>
                  </a:txBody>
                  <a:tcPr marT="12700" marB="12700" anchor="ctr">
                    <a:solidFill>
                      <a:srgbClr val="FFFFFF"/>
                    </a:solidFill>
                  </a:tcPr>
                </a:tc>
                <a:tc>
                  <a:txBody>
                    <a:bodyPr/>
                    <a:lstStyle/>
                    <a:p>
                      <a:pPr algn="ctr"/>
                      <a:r>
                        <a:rPr sz="1250">
                          <a:solidFill>
                            <a:srgbClr val="222222"/>
                          </a:solidFill>
                          <a:latin typeface="Calibri"/>
                        </a:rPr>
                        <a:t>4926</a:t>
                      </a:r>
                    </a:p>
                  </a:txBody>
                  <a:tcPr marT="12700" marB="12700" anchor="ctr">
                    <a:solidFill>
                      <a:srgbClr val="FFFFFF"/>
                    </a:solidFill>
                  </a:tcPr>
                </a:tc>
                <a:tc>
                  <a:txBody>
                    <a:bodyPr/>
                    <a:lstStyle/>
                    <a:p>
                      <a:pPr algn="ctr"/>
                      <a:r>
                        <a:rPr sz="1250">
                          <a:solidFill>
                            <a:srgbClr val="222222"/>
                          </a:solidFill>
                          <a:latin typeface="Calibri"/>
                        </a:rPr>
                        <a:t>-10.7%</a:t>
                      </a:r>
                    </a:p>
                  </a:txBody>
                  <a:tcPr marT="12700" marB="12700" anchor="ctr">
                    <a:solidFill>
                      <a:srgbClr val="FFFFFF"/>
                    </a:solidFill>
                  </a:tcPr>
                </a:tc>
              </a:tr>
              <a:tr h="448056">
                <a:tc>
                  <a:txBody>
                    <a:bodyPr/>
                    <a:lstStyle/>
                    <a:p>
                      <a:pPr algn="l"/>
                      <a:r>
                        <a:rPr sz="1250">
                          <a:solidFill>
                            <a:srgbClr val="222222"/>
                          </a:solidFill>
                          <a:latin typeface="Calibri"/>
                        </a:rPr>
                        <a:t>Renewable curtailment (%)</a:t>
                      </a:r>
                    </a:p>
                  </a:txBody>
                  <a:tcPr marT="12700" marB="12700" anchor="ctr">
                    <a:solidFill>
                      <a:srgbClr val="EEF3F8"/>
                    </a:solidFill>
                  </a:tcPr>
                </a:tc>
                <a:tc>
                  <a:txBody>
                    <a:bodyPr/>
                    <a:lstStyle/>
                    <a:p>
                      <a:pPr algn="ctr"/>
                      <a:r>
                        <a:rPr sz="1250">
                          <a:solidFill>
                            <a:srgbClr val="222222"/>
                          </a:solidFill>
                          <a:latin typeface="Calibri"/>
                        </a:rPr>
                        <a:t>2.5</a:t>
                      </a:r>
                    </a:p>
                  </a:txBody>
                  <a:tcPr marT="12700" marB="12700" anchor="ctr">
                    <a:solidFill>
                      <a:srgbClr val="EEF3F8"/>
                    </a:solidFill>
                  </a:tcPr>
                </a:tc>
                <a:tc>
                  <a:txBody>
                    <a:bodyPr/>
                    <a:lstStyle/>
                    <a:p>
                      <a:pPr algn="ctr"/>
                      <a:r>
                        <a:rPr sz="1250">
                          <a:solidFill>
                            <a:srgbClr val="222222"/>
                          </a:solidFill>
                          <a:latin typeface="Calibri"/>
                        </a:rPr>
                        <a:t>2.5</a:t>
                      </a:r>
                    </a:p>
                  </a:txBody>
                  <a:tcPr marT="12700" marB="12700" anchor="ctr">
                    <a:solidFill>
                      <a:srgbClr val="EEF3F8"/>
                    </a:solidFill>
                  </a:tcPr>
                </a:tc>
                <a:tc>
                  <a:txBody>
                    <a:bodyPr/>
                    <a:lstStyle/>
                    <a:p>
                      <a:pPr algn="ctr"/>
                      <a:r>
                        <a:rPr sz="1250">
                          <a:solidFill>
                            <a:srgbClr val="222222"/>
                          </a:solidFill>
                          <a:latin typeface="Calibri"/>
                        </a:rPr>
                        <a:t>0%</a:t>
                      </a:r>
                    </a:p>
                  </a:txBody>
                  <a:tcPr marT="12700" marB="12700" anchor="ctr">
                    <a:solidFill>
                      <a:srgbClr val="EEF3F8"/>
                    </a:solidFill>
                  </a:tcPr>
                </a:tc>
              </a:tr>
              <a:tr h="448056">
                <a:tc>
                  <a:txBody>
                    <a:bodyPr/>
                    <a:lstStyle/>
                    <a:p>
                      <a:pPr algn="l"/>
                      <a:r>
                        <a:rPr sz="1250">
                          <a:solidFill>
                            <a:srgbClr val="222222"/>
                          </a:solidFill>
                          <a:latin typeface="Calibri"/>
                        </a:rPr>
                        <a:t>Renewable share of generation (%)</a:t>
                      </a:r>
                    </a:p>
                  </a:txBody>
                  <a:tcPr marT="12700" marB="12700" anchor="ctr">
                    <a:solidFill>
                      <a:srgbClr val="FFFFFF"/>
                    </a:solidFill>
                  </a:tcPr>
                </a:tc>
                <a:tc>
                  <a:txBody>
                    <a:bodyPr/>
                    <a:lstStyle/>
                    <a:p>
                      <a:pPr algn="ctr"/>
                      <a:r>
                        <a:rPr sz="1250">
                          <a:solidFill>
                            <a:srgbClr val="222222"/>
                          </a:solidFill>
                          <a:latin typeface="Calibri"/>
                        </a:rPr>
                        <a:t>72.4</a:t>
                      </a:r>
                    </a:p>
                  </a:txBody>
                  <a:tcPr marT="12700" marB="12700" anchor="ctr">
                    <a:solidFill>
                      <a:srgbClr val="FFFFFF"/>
                    </a:solidFill>
                  </a:tcPr>
                </a:tc>
                <a:tc>
                  <a:txBody>
                    <a:bodyPr/>
                    <a:lstStyle/>
                    <a:p>
                      <a:pPr algn="ctr"/>
                      <a:r>
                        <a:rPr sz="1250">
                          <a:solidFill>
                            <a:srgbClr val="222222"/>
                          </a:solidFill>
                          <a:latin typeface="Calibri"/>
                        </a:rPr>
                        <a:t>71.8</a:t>
                      </a:r>
                    </a:p>
                  </a:txBody>
                  <a:tcPr marT="12700" marB="12700" anchor="ctr">
                    <a:solidFill>
                      <a:srgbClr val="FFFFFF"/>
                    </a:solidFill>
                  </a:tcPr>
                </a:tc>
                <a:tc>
                  <a:txBody>
                    <a:bodyPr/>
                    <a:lstStyle/>
                    <a:p>
                      <a:pPr algn="ctr"/>
                      <a:r>
                        <a:rPr sz="1250">
                          <a:solidFill>
                            <a:srgbClr val="222222"/>
                          </a:solidFill>
                          <a:latin typeface="Calibri"/>
                        </a:rPr>
                        <a:t>-0.9%</a:t>
                      </a:r>
                    </a:p>
                  </a:txBody>
                  <a:tcPr marT="12700" marB="12700" anchor="ctr">
                    <a:solidFill>
                      <a:srgbClr val="FFFFFF"/>
                    </a:solidFill>
                  </a:tcPr>
                </a:tc>
              </a:tr>
              <a:tr h="448056">
                <a:tc>
                  <a:txBody>
                    <a:bodyPr/>
                    <a:lstStyle/>
                    <a:p>
                      <a:pPr algn="l"/>
                      <a:r>
                        <a:rPr sz="1250">
                          <a:solidFill>
                            <a:srgbClr val="222222"/>
                          </a:solidFill>
                          <a:latin typeface="Calibri"/>
                        </a:rPr>
                        <a:t>Net imports (TWh/yr)</a:t>
                      </a:r>
                    </a:p>
                  </a:txBody>
                  <a:tcPr marT="12700" marB="12700" anchor="ctr">
                    <a:solidFill>
                      <a:srgbClr val="EEF3F8"/>
                    </a:solidFill>
                  </a:tcPr>
                </a:tc>
                <a:tc>
                  <a:txBody>
                    <a:bodyPr/>
                    <a:lstStyle/>
                    <a:p>
                      <a:pPr algn="ctr"/>
                      <a:r>
                        <a:rPr sz="1250">
                          <a:solidFill>
                            <a:srgbClr val="222222"/>
                          </a:solidFill>
                          <a:latin typeface="Calibri"/>
                        </a:rPr>
                        <a:t>7.1</a:t>
                      </a:r>
                    </a:p>
                  </a:txBody>
                  <a:tcPr marT="12700" marB="12700" anchor="ctr">
                    <a:solidFill>
                      <a:srgbClr val="EEF3F8"/>
                    </a:solidFill>
                  </a:tcPr>
                </a:tc>
                <a:tc>
                  <a:txBody>
                    <a:bodyPr/>
                    <a:lstStyle/>
                    <a:p>
                      <a:pPr algn="ctr"/>
                      <a:r>
                        <a:rPr sz="1250">
                          <a:solidFill>
                            <a:srgbClr val="222222"/>
                          </a:solidFill>
                          <a:latin typeface="Calibri"/>
                        </a:rPr>
                        <a:t>1.6</a:t>
                      </a:r>
                    </a:p>
                  </a:txBody>
                  <a:tcPr marT="12700" marB="12700" anchor="ctr">
                    <a:solidFill>
                      <a:srgbClr val="EEF3F8"/>
                    </a:solidFill>
                  </a:tcPr>
                </a:tc>
                <a:tc>
                  <a:txBody>
                    <a:bodyPr/>
                    <a:lstStyle/>
                    <a:p>
                      <a:pPr algn="ctr"/>
                      <a:r>
                        <a:rPr sz="1250">
                          <a:solidFill>
                            <a:srgbClr val="222222"/>
                          </a:solidFill>
                          <a:latin typeface="Calibri"/>
                        </a:rPr>
                        <a:t>-77.9%</a:t>
                      </a:r>
                    </a:p>
                  </a:txBody>
                  <a:tcPr marT="12700" marB="12700" anchor="ctr">
                    <a:solidFill>
                      <a:srgbClr val="EEF3F8"/>
                    </a:solidFill>
                  </a:tcPr>
                </a:tc>
              </a:tr>
              <a:tr h="448056">
                <a:tc>
                  <a:txBody>
                    <a:bodyPr/>
                    <a:lstStyle/>
                    <a:p>
                      <a:pPr algn="l"/>
                      <a:r>
                        <a:rPr sz="1250">
                          <a:solidFill>
                            <a:srgbClr val="222222"/>
                          </a:solidFill>
                          <a:latin typeface="Calibri"/>
                        </a:rPr>
                        <a:t>CO₂ emissions (Mt/yr)</a:t>
                      </a:r>
                    </a:p>
                  </a:txBody>
                  <a:tcPr marT="12700" marB="12700" anchor="ctr">
                    <a:solidFill>
                      <a:srgbClr val="FFFFFF"/>
                    </a:solidFill>
                  </a:tcPr>
                </a:tc>
                <a:tc>
                  <a:txBody>
                    <a:bodyPr/>
                    <a:lstStyle/>
                    <a:p>
                      <a:pPr algn="ctr"/>
                      <a:r>
                        <a:rPr sz="1250">
                          <a:solidFill>
                            <a:srgbClr val="222222"/>
                          </a:solidFill>
                          <a:latin typeface="Calibri"/>
                        </a:rPr>
                        <a:t>101.3</a:t>
                      </a:r>
                    </a:p>
                  </a:txBody>
                  <a:tcPr marT="12700" marB="12700" anchor="ctr">
                    <a:solidFill>
                      <a:srgbClr val="FFFFFF"/>
                    </a:solidFill>
                  </a:tcPr>
                </a:tc>
                <a:tc>
                  <a:txBody>
                    <a:bodyPr/>
                    <a:lstStyle/>
                    <a:p>
                      <a:pPr algn="ctr"/>
                      <a:r>
                        <a:rPr sz="1250">
                          <a:solidFill>
                            <a:srgbClr val="222222"/>
                          </a:solidFill>
                          <a:latin typeface="Calibri"/>
                        </a:rPr>
                        <a:t>88.7</a:t>
                      </a:r>
                    </a:p>
                  </a:txBody>
                  <a:tcPr marT="12700" marB="12700" anchor="ctr">
                    <a:solidFill>
                      <a:srgbClr val="FFFFFF"/>
                    </a:solidFill>
                  </a:tcPr>
                </a:tc>
                <a:tc>
                  <a:txBody>
                    <a:bodyPr/>
                    <a:lstStyle/>
                    <a:p>
                      <a:pPr algn="ctr"/>
                      <a:r>
                        <a:rPr sz="1250">
                          <a:solidFill>
                            <a:srgbClr val="222222"/>
                          </a:solidFill>
                          <a:latin typeface="Calibri"/>
                        </a:rPr>
                        <a:t>-12.4%</a:t>
                      </a:r>
                    </a:p>
                  </a:txBody>
                  <a:tcPr marT="12700" marB="12700" anchor="ctr">
                    <a:solidFill>
                      <a:srgbClr val="FFFFFF"/>
                    </a:solidFill>
                  </a:tcPr>
                </a:tc>
              </a:tr>
              <a:tr h="448056">
                <a:tc>
                  <a:txBody>
                    <a:bodyPr/>
                    <a:lstStyle/>
                    <a:p>
                      <a:pPr algn="l"/>
                      <a:r>
                        <a:rPr sz="1250">
                          <a:solidFill>
                            <a:srgbClr val="222222"/>
                          </a:solidFill>
                          <a:latin typeface="Calibri"/>
                        </a:rPr>
                        <a:t>Total system cost (bn EUR/yr)</a:t>
                      </a:r>
                    </a:p>
                  </a:txBody>
                  <a:tcPr marT="12700" marB="12700" anchor="ctr">
                    <a:solidFill>
                      <a:srgbClr val="EEF3F8"/>
                    </a:solidFill>
                  </a:tcPr>
                </a:tc>
                <a:tc>
                  <a:txBody>
                    <a:bodyPr/>
                    <a:lstStyle/>
                    <a:p>
                      <a:pPr algn="ctr"/>
                      <a:r>
                        <a:rPr sz="1250">
                          <a:solidFill>
                            <a:srgbClr val="222222"/>
                          </a:solidFill>
                          <a:latin typeface="Calibri"/>
                        </a:rPr>
                        <a:t>26.75</a:t>
                      </a:r>
                    </a:p>
                  </a:txBody>
                  <a:tcPr marT="12700" marB="12700" anchor="ctr">
                    <a:solidFill>
                      <a:srgbClr val="EEF3F8"/>
                    </a:solidFill>
                  </a:tcPr>
                </a:tc>
                <a:tc>
                  <a:txBody>
                    <a:bodyPr/>
                    <a:lstStyle/>
                    <a:p>
                      <a:pPr algn="ctr"/>
                      <a:r>
                        <a:rPr sz="1250">
                          <a:solidFill>
                            <a:srgbClr val="222222"/>
                          </a:solidFill>
                          <a:latin typeface="Calibri"/>
                        </a:rPr>
                        <a:t>25.80</a:t>
                      </a:r>
                    </a:p>
                  </a:txBody>
                  <a:tcPr marT="12700" marB="12700" anchor="ctr">
                    <a:solidFill>
                      <a:srgbClr val="EEF3F8"/>
                    </a:solidFill>
                  </a:tcPr>
                </a:tc>
                <a:tc>
                  <a:txBody>
                    <a:bodyPr/>
                    <a:lstStyle/>
                    <a:p>
                      <a:pPr algn="ctr"/>
                      <a:r>
                        <a:rPr sz="1250">
                          <a:solidFill>
                            <a:srgbClr val="222222"/>
                          </a:solidFill>
                          <a:latin typeface="Calibri"/>
                        </a:rPr>
                        <a:t>-3.5%</a:t>
                      </a:r>
                    </a:p>
                  </a:txBody>
                  <a:tcPr marT="12700" marB="12700" anchor="ctr">
                    <a:solidFill>
                      <a:srgbClr val="EEF3F8"/>
                    </a:solidFill>
                  </a:tcPr>
                </a:tc>
              </a:tr>
            </a:tbl>
          </a:graphicData>
        </a:graphic>
      </p:graphicFrame>
      <p:sp>
        <p:nvSpPr>
          <p:cNvPr id="9" name="TextBox 8"/>
          <p:cNvSpPr txBox="1"/>
          <p:nvPr/>
        </p:nvSpPr>
        <p:spPr>
          <a:xfrm>
            <a:off x="640080" y="6172200"/>
            <a:ext cx="10927080" cy="365760"/>
          </a:xfrm>
          <a:prstGeom prst="rect">
            <a:avLst/>
          </a:prstGeom>
          <a:noFill/>
        </p:spPr>
        <p:txBody>
          <a:bodyPr wrap="square" anchor="t" lIns="25400" rIns="25400" tIns="12700" bIns="12700">
            <a:spAutoFit/>
          </a:bodyPr>
          <a:lstStyle/>
          <a:p>
            <a:pPr algn="ctr">
              <a:spcAft>
                <a:spcPts val="0"/>
              </a:spcAft>
            </a:pPr>
            <a:r>
              <a:rPr sz="1200" b="0" i="1">
                <a:solidFill>
                  <a:srgbClr val="666666"/>
                </a:solidFill>
                <a:latin typeface="Calibri"/>
              </a:rPr>
              <a:t>All values copied directly from comparison_table.csv (PyPSA + HiGHS model output).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Do the Model Results Match the Literature?</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SYNTHESIS</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19</a:t>
            </a:r>
          </a:p>
        </p:txBody>
      </p:sp>
      <p:graphicFrame>
        <p:nvGraphicFramePr>
          <p:cNvPr id="8" name="Table 7"/>
          <p:cNvGraphicFramePr>
            <a:graphicFrameLocks noGrp="1"/>
          </p:cNvGraphicFramePr>
          <p:nvPr/>
        </p:nvGraphicFramePr>
        <p:xfrm>
          <a:off x="548640" y="1234440"/>
          <a:ext cx="11109959" cy="3803904"/>
        </p:xfrm>
        <a:graphic>
          <a:graphicData uri="http://schemas.openxmlformats.org/drawingml/2006/table">
            <a:tbl>
              <a:tblPr>
                <a:tableStyleId>{5C22544A-7EE6-4342-B048-85BDC9FD1C3A}</a:tableStyleId>
              </a:tblPr>
              <a:tblGrid>
                <a:gridCol w="5029200"/>
                <a:gridCol w="3977639"/>
                <a:gridCol w="2103120"/>
              </a:tblGrid>
              <a:tr h="475488">
                <a:tc>
                  <a:txBody>
                    <a:bodyPr/>
                    <a:lstStyle/>
                    <a:p>
                      <a:pPr algn="ctr"/>
                      <a:r>
                        <a:rPr sz="1250" b="1">
                          <a:solidFill>
                            <a:srgbClr val="FFFFFF"/>
                          </a:solidFill>
                          <a:latin typeface="Calibri"/>
                        </a:rPr>
                        <a:t>Literature expectation</a:t>
                      </a:r>
                    </a:p>
                  </a:txBody>
                  <a:tcPr marT="25400" marB="25400" anchor="ctr">
                    <a:solidFill>
                      <a:srgbClr val="003560"/>
                    </a:solidFill>
                  </a:tcPr>
                </a:tc>
                <a:tc>
                  <a:txBody>
                    <a:bodyPr/>
                    <a:lstStyle/>
                    <a:p>
                      <a:pPr algn="ctr"/>
                      <a:r>
                        <a:rPr sz="1250" b="1">
                          <a:solidFill>
                            <a:srgbClr val="FFFFFF"/>
                          </a:solidFill>
                          <a:latin typeface="Calibri"/>
                        </a:rPr>
                        <a:t>Model result (A → B)</a:t>
                      </a:r>
                    </a:p>
                  </a:txBody>
                  <a:tcPr marT="25400" marB="25400" anchor="ctr">
                    <a:solidFill>
                      <a:srgbClr val="003560"/>
                    </a:solidFill>
                  </a:tcPr>
                </a:tc>
                <a:tc>
                  <a:txBody>
                    <a:bodyPr/>
                    <a:lstStyle/>
                    <a:p>
                      <a:pPr algn="ctr"/>
                      <a:r>
                        <a:rPr sz="1250" b="1">
                          <a:solidFill>
                            <a:srgbClr val="FFFFFF"/>
                          </a:solidFill>
                          <a:latin typeface="Calibri"/>
                        </a:rPr>
                        <a:t>Verdict</a:t>
                      </a:r>
                    </a:p>
                  </a:txBody>
                  <a:tcPr marT="25400" marB="25400" anchor="ctr">
                    <a:solidFill>
                      <a:srgbClr val="003560"/>
                    </a:solidFill>
                  </a:tcPr>
                </a:tc>
              </a:tr>
              <a:tr h="475488">
                <a:tc>
                  <a:txBody>
                    <a:bodyPr/>
                    <a:lstStyle/>
                    <a:p>
                      <a:pPr algn="l"/>
                      <a:r>
                        <a:rPr sz="1200">
                          <a:solidFill>
                            <a:srgbClr val="222222"/>
                          </a:solidFill>
                          <a:latin typeface="Calibri"/>
                        </a:rPr>
                        <a:t>Adequacy improves (Bublitz 2019; Bhagwat 2017)</a:t>
                      </a:r>
                    </a:p>
                  </a:txBody>
                  <a:tcPr marT="12700" marB="12700" anchor="ctr">
                    <a:solidFill>
                      <a:srgbClr val="FFFFFF"/>
                    </a:solidFill>
                  </a:tcPr>
                </a:tc>
                <a:tc>
                  <a:txBody>
                    <a:bodyPr/>
                    <a:lstStyle/>
                    <a:p>
                      <a:pPr algn="ctr"/>
                      <a:r>
                        <a:rPr sz="1200">
                          <a:solidFill>
                            <a:srgbClr val="222222"/>
                          </a:solidFill>
                          <a:latin typeface="Calibri"/>
                        </a:rPr>
                        <a:t>scarcity 8 → 0 h; unserved → 0</a:t>
                      </a:r>
                    </a:p>
                  </a:txBody>
                  <a:tcPr marT="12700" marB="12700" anchor="ctr">
                    <a:solidFill>
                      <a:srgbClr val="FFFFFF"/>
                    </a:solidFill>
                  </a:tcPr>
                </a:tc>
                <a:tc>
                  <a:txBody>
                    <a:bodyPr/>
                    <a:lstStyle/>
                    <a:p>
                      <a:pPr algn="ctr"/>
                      <a:r>
                        <a:rPr sz="1200">
                          <a:solidFill>
                            <a:srgbClr val="222222"/>
                          </a:solidFill>
                          <a:latin typeface="Calibri"/>
                        </a:rPr>
                        <a:t>Agree</a:t>
                      </a:r>
                    </a:p>
                  </a:txBody>
                  <a:tcPr marT="12700" marB="12700" anchor="ctr">
                    <a:solidFill>
                      <a:srgbClr val="FFFFFF"/>
                    </a:solidFill>
                  </a:tcPr>
                </a:tc>
              </a:tr>
              <a:tr h="475488">
                <a:tc>
                  <a:txBody>
                    <a:bodyPr/>
                    <a:lstStyle/>
                    <a:p>
                      <a:pPr algn="l"/>
                      <a:r>
                        <a:rPr sz="1200">
                          <a:solidFill>
                            <a:srgbClr val="222222"/>
                          </a:solidFill>
                          <a:latin typeface="Calibri"/>
                        </a:rPr>
                        <a:t>Spikes &amp; volatility fall (Bublitz 2019)</a:t>
                      </a:r>
                    </a:p>
                  </a:txBody>
                  <a:tcPr marT="12700" marB="12700" anchor="ctr">
                    <a:solidFill>
                      <a:srgbClr val="EEF3F8"/>
                    </a:solidFill>
                  </a:tcPr>
                </a:tc>
                <a:tc>
                  <a:txBody>
                    <a:bodyPr/>
                    <a:lstStyle/>
                    <a:p>
                      <a:pPr algn="ctr"/>
                      <a:r>
                        <a:rPr sz="1200">
                          <a:solidFill>
                            <a:srgbClr val="222222"/>
                          </a:solidFill>
                          <a:latin typeface="Calibri"/>
                        </a:rPr>
                        <a:t>volatility -80%; spikes removed</a:t>
                      </a:r>
                    </a:p>
                  </a:txBody>
                  <a:tcPr marT="12700" marB="12700" anchor="ctr">
                    <a:solidFill>
                      <a:srgbClr val="EEF3F8"/>
                    </a:solidFill>
                  </a:tcPr>
                </a:tc>
                <a:tc>
                  <a:txBody>
                    <a:bodyPr/>
                    <a:lstStyle/>
                    <a:p>
                      <a:pPr algn="ctr"/>
                      <a:r>
                        <a:rPr sz="1200">
                          <a:solidFill>
                            <a:srgbClr val="222222"/>
                          </a:solidFill>
                          <a:latin typeface="Calibri"/>
                        </a:rPr>
                        <a:t>Agree</a:t>
                      </a:r>
                    </a:p>
                  </a:txBody>
                  <a:tcPr marT="12700" marB="12700" anchor="ctr">
                    <a:solidFill>
                      <a:srgbClr val="EEF3F8"/>
                    </a:solidFill>
                  </a:tcPr>
                </a:tc>
              </a:tr>
              <a:tr h="475488">
                <a:tc>
                  <a:txBody>
                    <a:bodyPr/>
                    <a:lstStyle/>
                    <a:p>
                      <a:pPr algn="l"/>
                      <a:r>
                        <a:rPr sz="1200">
                          <a:solidFill>
                            <a:srgbClr val="222222"/>
                          </a:solidFill>
                          <a:latin typeface="Calibri"/>
                        </a:rPr>
                        <a:t>Existing-plant dilution (merit order)</a:t>
                      </a:r>
                    </a:p>
                  </a:txBody>
                  <a:tcPr marT="12700" marB="12700" anchor="ctr">
                    <a:solidFill>
                      <a:srgbClr val="FFFFFF"/>
                    </a:solidFill>
                  </a:tcPr>
                </a:tc>
                <a:tc>
                  <a:txBody>
                    <a:bodyPr/>
                    <a:lstStyle/>
                    <a:p>
                      <a:pPr algn="ctr"/>
                      <a:r>
                        <a:rPr sz="1200">
                          <a:solidFill>
                            <a:srgbClr val="222222"/>
                          </a:solidFill>
                          <a:latin typeface="Calibri"/>
                        </a:rPr>
                        <a:t>CCGT FLH -11%; OCGT -51%</a:t>
                      </a:r>
                    </a:p>
                  </a:txBody>
                  <a:tcPr marT="12700" marB="12700" anchor="ctr">
                    <a:solidFill>
                      <a:srgbClr val="FFFFFF"/>
                    </a:solidFill>
                  </a:tcPr>
                </a:tc>
                <a:tc>
                  <a:txBody>
                    <a:bodyPr/>
                    <a:lstStyle/>
                    <a:p>
                      <a:pPr algn="ctr"/>
                      <a:r>
                        <a:rPr sz="1200">
                          <a:solidFill>
                            <a:srgbClr val="222222"/>
                          </a:solidFill>
                          <a:latin typeface="Calibri"/>
                        </a:rPr>
                        <a:t>Agree</a:t>
                      </a:r>
                    </a:p>
                  </a:txBody>
                  <a:tcPr marT="12700" marB="12700" anchor="ctr">
                    <a:solidFill>
                      <a:srgbClr val="FFFFFF"/>
                    </a:solidFill>
                  </a:tcPr>
                </a:tc>
              </a:tr>
              <a:tr h="475488">
                <a:tc>
                  <a:txBody>
                    <a:bodyPr/>
                    <a:lstStyle/>
                    <a:p>
                      <a:pPr algn="l"/>
                      <a:r>
                        <a:rPr sz="1200">
                          <a:solidFill>
                            <a:srgbClr val="222222"/>
                          </a:solidFill>
                          <a:latin typeface="Calibri"/>
                        </a:rPr>
                        <a:t>Curtailment ~ unchanged</a:t>
                      </a:r>
                    </a:p>
                  </a:txBody>
                  <a:tcPr marT="12700" marB="12700" anchor="ctr">
                    <a:solidFill>
                      <a:srgbClr val="EEF3F8"/>
                    </a:solidFill>
                  </a:tcPr>
                </a:tc>
                <a:tc>
                  <a:txBody>
                    <a:bodyPr/>
                    <a:lstStyle/>
                    <a:p>
                      <a:pPr algn="ctr"/>
                      <a:r>
                        <a:rPr sz="1200">
                          <a:solidFill>
                            <a:srgbClr val="222222"/>
                          </a:solidFill>
                          <a:latin typeface="Calibri"/>
                        </a:rPr>
                        <a:t>identical at 2.5%</a:t>
                      </a:r>
                    </a:p>
                  </a:txBody>
                  <a:tcPr marT="12700" marB="12700" anchor="ctr">
                    <a:solidFill>
                      <a:srgbClr val="EEF3F8"/>
                    </a:solidFill>
                  </a:tcPr>
                </a:tc>
                <a:tc>
                  <a:txBody>
                    <a:bodyPr/>
                    <a:lstStyle/>
                    <a:p>
                      <a:pPr algn="ctr"/>
                      <a:r>
                        <a:rPr sz="1200">
                          <a:solidFill>
                            <a:srgbClr val="222222"/>
                          </a:solidFill>
                          <a:latin typeface="Calibri"/>
                        </a:rPr>
                        <a:t>Agree</a:t>
                      </a:r>
                    </a:p>
                  </a:txBody>
                  <a:tcPr marT="12700" marB="12700" anchor="ctr">
                    <a:solidFill>
                      <a:srgbClr val="EEF3F8"/>
                    </a:solidFill>
                  </a:tcPr>
                </a:tc>
              </a:tr>
              <a:tr h="475488">
                <a:tc>
                  <a:txBody>
                    <a:bodyPr/>
                    <a:lstStyle/>
                    <a:p>
                      <a:pPr algn="l"/>
                      <a:r>
                        <a:rPr sz="1200">
                          <a:solidFill>
                            <a:srgbClr val="222222"/>
                          </a:solidFill>
                          <a:latin typeface="Calibri"/>
                        </a:rPr>
                        <a:t>Total cost RISES — textbook (Bhagwat 2017)</a:t>
                      </a:r>
                    </a:p>
                  </a:txBody>
                  <a:tcPr marT="12700" marB="12700" anchor="ctr">
                    <a:solidFill>
                      <a:srgbClr val="FFFFFF"/>
                    </a:solidFill>
                  </a:tcPr>
                </a:tc>
                <a:tc>
                  <a:txBody>
                    <a:bodyPr/>
                    <a:lstStyle/>
                    <a:p>
                      <a:pPr algn="ctr"/>
                      <a:r>
                        <a:rPr sz="1200">
                          <a:solidFill>
                            <a:srgbClr val="222222"/>
                          </a:solidFill>
                          <a:latin typeface="Calibri"/>
                        </a:rPr>
                        <a:t>cost -3.5% (falls)</a:t>
                      </a:r>
                    </a:p>
                  </a:txBody>
                  <a:tcPr marT="12700" marB="12700" anchor="ctr">
                    <a:solidFill>
                      <a:srgbClr val="FFFFFF"/>
                    </a:solidFill>
                  </a:tcPr>
                </a:tc>
                <a:tc>
                  <a:txBody>
                    <a:bodyPr/>
                    <a:lstStyle/>
                    <a:p>
                      <a:pPr algn="ctr"/>
                      <a:r>
                        <a:rPr sz="1200">
                          <a:solidFill>
                            <a:srgbClr val="222222"/>
                          </a:solidFill>
                          <a:latin typeface="Calibri"/>
                        </a:rPr>
                        <a:t>Diverge</a:t>
                      </a:r>
                    </a:p>
                  </a:txBody>
                  <a:tcPr marT="12700" marB="12700" anchor="ctr">
                    <a:solidFill>
                      <a:srgbClr val="FFFFFF"/>
                    </a:solidFill>
                  </a:tcPr>
                </a:tc>
              </a:tr>
              <a:tr h="475488">
                <a:tc>
                  <a:txBody>
                    <a:bodyPr/>
                    <a:lstStyle/>
                    <a:p>
                      <a:pPr algn="l"/>
                      <a:r>
                        <a:rPr sz="1200">
                          <a:solidFill>
                            <a:srgbClr val="222222"/>
                          </a:solidFill>
                          <a:latin typeface="Calibri"/>
                        </a:rPr>
                        <a:t>“Missing money” (Cramton &amp; Stoft 2005; Joskow 2008)</a:t>
                      </a:r>
                    </a:p>
                  </a:txBody>
                  <a:tcPr marT="12700" marB="12700" anchor="ctr">
                    <a:solidFill>
                      <a:srgbClr val="EEF3F8"/>
                    </a:solidFill>
                  </a:tcPr>
                </a:tc>
                <a:tc>
                  <a:txBody>
                    <a:bodyPr/>
                    <a:lstStyle/>
                    <a:p>
                      <a:pPr algn="ctr"/>
                      <a:r>
                        <a:rPr sz="1200">
                          <a:solidFill>
                            <a:srgbClr val="222222"/>
                          </a:solidFill>
                          <a:latin typeface="Calibri"/>
                        </a:rPr>
                        <a:t>spikes that would fund the plant are removed</a:t>
                      </a:r>
                    </a:p>
                  </a:txBody>
                  <a:tcPr marT="12700" marB="12700" anchor="ctr">
                    <a:solidFill>
                      <a:srgbClr val="EEF3F8"/>
                    </a:solidFill>
                  </a:tcPr>
                </a:tc>
                <a:tc>
                  <a:txBody>
                    <a:bodyPr/>
                    <a:lstStyle/>
                    <a:p>
                      <a:pPr algn="ctr"/>
                      <a:r>
                        <a:rPr sz="1200">
                          <a:solidFill>
                            <a:srgbClr val="222222"/>
                          </a:solidFill>
                          <a:latin typeface="Calibri"/>
                        </a:rPr>
                        <a:t>Illustrated</a:t>
                      </a:r>
                    </a:p>
                  </a:txBody>
                  <a:tcPr marT="12700" marB="12700" anchor="ctr">
                    <a:solidFill>
                      <a:srgbClr val="EEF3F8"/>
                    </a:solidFill>
                  </a:tcPr>
                </a:tc>
              </a:tr>
              <a:tr h="475488">
                <a:tc>
                  <a:txBody>
                    <a:bodyPr/>
                    <a:lstStyle/>
                    <a:p>
                      <a:pPr algn="l"/>
                      <a:r>
                        <a:rPr sz="1200">
                          <a:solidFill>
                            <a:srgbClr val="222222"/>
                          </a:solidFill>
                          <a:latin typeface="Calibri"/>
                        </a:rPr>
                        <a:t>Interconnectors substitute (Newbery 2016)</a:t>
                      </a:r>
                    </a:p>
                  </a:txBody>
                  <a:tcPr marT="12700" marB="12700" anchor="ctr">
                    <a:solidFill>
                      <a:srgbClr val="FFFFFF"/>
                    </a:solidFill>
                  </a:tcPr>
                </a:tc>
                <a:tc>
                  <a:txBody>
                    <a:bodyPr/>
                    <a:lstStyle/>
                    <a:p>
                      <a:pPr algn="ctr"/>
                      <a:r>
                        <a:rPr sz="1200">
                          <a:solidFill>
                            <a:srgbClr val="222222"/>
                          </a:solidFill>
                          <a:latin typeface="Calibri"/>
                        </a:rPr>
                        <a:t>imports -78%; benefit modest</a:t>
                      </a:r>
                    </a:p>
                  </a:txBody>
                  <a:tcPr marT="12700" marB="12700" anchor="ctr">
                    <a:solidFill>
                      <a:srgbClr val="FFFFFF"/>
                    </a:solidFill>
                  </a:tcPr>
                </a:tc>
                <a:tc>
                  <a:txBody>
                    <a:bodyPr/>
                    <a:lstStyle/>
                    <a:p>
                      <a:pPr algn="ctr"/>
                      <a:r>
                        <a:rPr sz="1200">
                          <a:solidFill>
                            <a:srgbClr val="222222"/>
                          </a:solidFill>
                          <a:latin typeface="Calibri"/>
                        </a:rPr>
                        <a:t>Agree</a:t>
                      </a:r>
                    </a:p>
                  </a:txBody>
                  <a:tcPr marT="12700" marB="12700" anchor="ctr">
                    <a:solidFill>
                      <a:srgbClr val="FFFFFF"/>
                    </a:solidFill>
                  </a:tcPr>
                </a:tc>
              </a:tr>
            </a:tbl>
          </a:graphicData>
        </a:graphic>
      </p:graphicFrame>
      <p:sp>
        <p:nvSpPr>
          <p:cNvPr id="9" name="Rectangle 8"/>
          <p:cNvSpPr/>
          <p:nvPr/>
        </p:nvSpPr>
        <p:spPr>
          <a:xfrm>
            <a:off x="548640" y="5257800"/>
            <a:ext cx="11109960" cy="105156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349240"/>
            <a:ext cx="10780776" cy="868680"/>
          </a:xfrm>
          <a:prstGeom prst="rect">
            <a:avLst/>
          </a:prstGeom>
          <a:noFill/>
        </p:spPr>
        <p:txBody>
          <a:bodyPr wrap="square" anchor="t" lIns="25400" rIns="25400" tIns="12700" bIns="12700">
            <a:spAutoFit/>
          </a:bodyPr>
          <a:lstStyle/>
          <a:p>
            <a:pPr algn="l">
              <a:spcAft>
                <a:spcPts val="500"/>
              </a:spcAft>
            </a:pPr>
            <a:r>
              <a:rPr sz="1500" b="1" i="0">
                <a:solidFill>
                  <a:srgbClr val="003560"/>
                </a:solidFill>
                <a:latin typeface="Calibri"/>
              </a:rPr>
              <a:t>The one divergence — explained</a:t>
            </a:r>
          </a:p>
          <a:p>
            <a:pPr algn="l">
              <a:spcAft>
                <a:spcPts val="400"/>
              </a:spcAft>
            </a:pPr>
            <a:r>
              <a:rPr sz="1250" b="0" i="0">
                <a:solidFill>
                  <a:srgbClr val="222222"/>
                </a:solidFill>
                <a:latin typeface="Calibri"/>
              </a:rPr>
              <a:t>•  Textbooks treat new capacity as idle “insurance”, so cost rises. Here the efficient new gas (MC ≈ €91) displaces costlier gas, peakers and imports, so it pays for its own build cost — cost falls slightly.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What This Means for German Prices</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SYNTHESIS</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20</a:t>
            </a:r>
          </a:p>
        </p:txBody>
      </p:sp>
      <p:sp>
        <p:nvSpPr>
          <p:cNvPr id="8" name="Rectangle 7"/>
          <p:cNvSpPr/>
          <p:nvPr/>
        </p:nvSpPr>
        <p:spPr>
          <a:xfrm>
            <a:off x="640080" y="1554480"/>
            <a:ext cx="3383280" cy="20116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91640"/>
            <a:ext cx="3383280" cy="1188720"/>
          </a:xfrm>
          <a:prstGeom prst="rect">
            <a:avLst/>
          </a:prstGeom>
          <a:noFill/>
        </p:spPr>
        <p:txBody>
          <a:bodyPr wrap="square" anchor="ctr" lIns="25400" rIns="25400" tIns="12700" bIns="12700">
            <a:spAutoFit/>
          </a:bodyPr>
          <a:lstStyle/>
          <a:p>
            <a:pPr algn="ctr">
              <a:spcAft>
                <a:spcPts val="0"/>
              </a:spcAft>
            </a:pPr>
            <a:r>
              <a:rPr sz="4000" b="1" i="0">
                <a:solidFill>
                  <a:srgbClr val="003560"/>
                </a:solidFill>
                <a:latin typeface="Calibri"/>
              </a:rPr>
              <a:t>€113 → €93</a:t>
            </a:r>
          </a:p>
        </p:txBody>
      </p:sp>
      <p:sp>
        <p:nvSpPr>
          <p:cNvPr id="10" name="TextBox 9"/>
          <p:cNvSpPr txBox="1"/>
          <p:nvPr/>
        </p:nvSpPr>
        <p:spPr>
          <a:xfrm>
            <a:off x="640080" y="2788920"/>
            <a:ext cx="3383280" cy="731520"/>
          </a:xfrm>
          <a:prstGeom prst="rect">
            <a:avLst/>
          </a:prstGeom>
          <a:noFill/>
        </p:spPr>
        <p:txBody>
          <a:bodyPr wrap="square" anchor="ctr" lIns="25400" rIns="25400" tIns="12700" bIns="12700">
            <a:spAutoFit/>
          </a:bodyPr>
          <a:lstStyle/>
          <a:p>
            <a:pPr algn="ctr">
              <a:spcAft>
                <a:spcPts val="0"/>
              </a:spcAft>
            </a:pPr>
            <a:r>
              <a:rPr sz="1350" b="0" i="0">
                <a:solidFill>
                  <a:srgbClr val="222222"/>
                </a:solidFill>
                <a:latin typeface="Calibri"/>
              </a:rPr>
              <a:t>Mean wholesale price (−18%)</a:t>
            </a:r>
          </a:p>
        </p:txBody>
      </p:sp>
      <p:sp>
        <p:nvSpPr>
          <p:cNvPr id="11" name="Rectangle 10"/>
          <p:cNvSpPr/>
          <p:nvPr/>
        </p:nvSpPr>
        <p:spPr>
          <a:xfrm>
            <a:off x="4389120" y="1554480"/>
            <a:ext cx="3383280" cy="20116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691640"/>
            <a:ext cx="3383280" cy="1188720"/>
          </a:xfrm>
          <a:prstGeom prst="rect">
            <a:avLst/>
          </a:prstGeom>
          <a:noFill/>
        </p:spPr>
        <p:txBody>
          <a:bodyPr wrap="square" anchor="ctr" lIns="25400" rIns="25400" tIns="12700" bIns="12700">
            <a:spAutoFit/>
          </a:bodyPr>
          <a:lstStyle/>
          <a:p>
            <a:pPr algn="ctr">
              <a:spcAft>
                <a:spcPts val="0"/>
              </a:spcAft>
            </a:pPr>
            <a:r>
              <a:rPr sz="4000" b="1" i="0">
                <a:solidFill>
                  <a:srgbClr val="003560"/>
                </a:solidFill>
                <a:latin typeface="Calibri"/>
              </a:rPr>
              <a:t>-80%</a:t>
            </a:r>
          </a:p>
        </p:txBody>
      </p:sp>
      <p:sp>
        <p:nvSpPr>
          <p:cNvPr id="13" name="TextBox 12"/>
          <p:cNvSpPr txBox="1"/>
          <p:nvPr/>
        </p:nvSpPr>
        <p:spPr>
          <a:xfrm>
            <a:off x="4389120" y="2788920"/>
            <a:ext cx="3383280" cy="731520"/>
          </a:xfrm>
          <a:prstGeom prst="rect">
            <a:avLst/>
          </a:prstGeom>
          <a:noFill/>
        </p:spPr>
        <p:txBody>
          <a:bodyPr wrap="square" anchor="ctr" lIns="25400" rIns="25400" tIns="12700" bIns="12700">
            <a:spAutoFit/>
          </a:bodyPr>
          <a:lstStyle/>
          <a:p>
            <a:pPr algn="ctr">
              <a:spcAft>
                <a:spcPts val="0"/>
              </a:spcAft>
            </a:pPr>
            <a:r>
              <a:rPr sz="1350" b="0" i="0">
                <a:solidFill>
                  <a:srgbClr val="222222"/>
                </a:solidFill>
                <a:latin typeface="Calibri"/>
              </a:rPr>
              <a:t>Price volatility (spikes removed)</a:t>
            </a:r>
          </a:p>
        </p:txBody>
      </p:sp>
      <p:sp>
        <p:nvSpPr>
          <p:cNvPr id="14" name="Rectangle 13"/>
          <p:cNvSpPr/>
          <p:nvPr/>
        </p:nvSpPr>
        <p:spPr>
          <a:xfrm>
            <a:off x="8138160" y="1554480"/>
            <a:ext cx="3383280" cy="20116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691640"/>
            <a:ext cx="3383280" cy="1188720"/>
          </a:xfrm>
          <a:prstGeom prst="rect">
            <a:avLst/>
          </a:prstGeom>
          <a:noFill/>
        </p:spPr>
        <p:txBody>
          <a:bodyPr wrap="square" anchor="ctr" lIns="25400" rIns="25400" tIns="12700" bIns="12700">
            <a:spAutoFit/>
          </a:bodyPr>
          <a:lstStyle/>
          <a:p>
            <a:pPr algn="ctr">
              <a:spcAft>
                <a:spcPts val="0"/>
              </a:spcAft>
            </a:pPr>
            <a:r>
              <a:rPr sz="4000" b="1" i="0">
                <a:solidFill>
                  <a:srgbClr val="003560"/>
                </a:solidFill>
                <a:latin typeface="Calibri"/>
              </a:rPr>
              <a:t>8 → 0 h</a:t>
            </a:r>
          </a:p>
        </p:txBody>
      </p:sp>
      <p:sp>
        <p:nvSpPr>
          <p:cNvPr id="16" name="TextBox 15"/>
          <p:cNvSpPr txBox="1"/>
          <p:nvPr/>
        </p:nvSpPr>
        <p:spPr>
          <a:xfrm>
            <a:off x="8138160" y="2788920"/>
            <a:ext cx="3383280" cy="731520"/>
          </a:xfrm>
          <a:prstGeom prst="rect">
            <a:avLst/>
          </a:prstGeom>
          <a:noFill/>
        </p:spPr>
        <p:txBody>
          <a:bodyPr wrap="square" anchor="ctr" lIns="25400" rIns="25400" tIns="12700" bIns="12700">
            <a:spAutoFit/>
          </a:bodyPr>
          <a:lstStyle/>
          <a:p>
            <a:pPr algn="ctr">
              <a:spcAft>
                <a:spcPts val="0"/>
              </a:spcAft>
            </a:pPr>
            <a:r>
              <a:rPr sz="1350" b="0" i="0">
                <a:solidFill>
                  <a:srgbClr val="222222"/>
                </a:solidFill>
                <a:latin typeface="Calibri"/>
              </a:rPr>
              <a:t>Scarcity hours (supply secured)</a:t>
            </a:r>
          </a:p>
        </p:txBody>
      </p:sp>
      <p:sp>
        <p:nvSpPr>
          <p:cNvPr id="17" name="Rectangle 16"/>
          <p:cNvSpPr/>
          <p:nvPr/>
        </p:nvSpPr>
        <p:spPr>
          <a:xfrm>
            <a:off x="640080" y="3886200"/>
            <a:ext cx="10927080" cy="18288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977640"/>
            <a:ext cx="10597896" cy="1645920"/>
          </a:xfrm>
          <a:prstGeom prst="rect">
            <a:avLst/>
          </a:prstGeom>
          <a:noFill/>
        </p:spPr>
        <p:txBody>
          <a:bodyPr wrap="square" anchor="t" lIns="25400" rIns="25400" tIns="12700" bIns="12700">
            <a:spAutoFit/>
          </a:bodyPr>
          <a:lstStyle/>
          <a:p>
            <a:pPr algn="l">
              <a:spcAft>
                <a:spcPts val="500"/>
              </a:spcAft>
            </a:pPr>
            <a:r>
              <a:rPr sz="1500" b="1" i="0">
                <a:solidFill>
                  <a:srgbClr val="003560"/>
                </a:solidFill>
                <a:latin typeface="Calibri"/>
              </a:rPr>
              <a:t>The headline</a:t>
            </a:r>
          </a:p>
          <a:p>
            <a:pPr algn="l">
              <a:spcAft>
                <a:spcPts val="400"/>
              </a:spcAft>
            </a:pPr>
            <a:r>
              <a:rPr sz="1250" b="0" i="0">
                <a:solidFill>
                  <a:srgbClr val="222222"/>
                </a:solidFill>
                <a:latin typeface="Calibri"/>
              </a:rPr>
              <a:t>•  The Kraftwerksstrategie mainly removes the rare, extreme price spikes — the typical (median) hour barely changes.</a:t>
            </a:r>
          </a:p>
          <a:p>
            <a:pPr algn="l">
              <a:spcAft>
                <a:spcPts val="400"/>
              </a:spcAft>
            </a:pPr>
            <a:r>
              <a:rPr sz="1250" b="0" i="0">
                <a:solidFill>
                  <a:srgbClr val="222222"/>
                </a:solidFill>
                <a:latin typeface="Calibri"/>
              </a:rPr>
              <a:t>•  Result: a lower and far steadier wholesale price, plus firm security of supply, with lower CO₂ and imports.</a:t>
            </a:r>
          </a:p>
          <a:p>
            <a:pPr algn="l">
              <a:spcAft>
                <a:spcPts val="400"/>
              </a:spcAft>
            </a:pPr>
            <a:r>
              <a:rPr sz="1250" b="0" i="0">
                <a:solidFill>
                  <a:srgbClr val="222222"/>
                </a:solidFill>
                <a:latin typeface="Calibri"/>
              </a:rPr>
              <a:t>•  Caveat: these are WHOLESALE prices; consumer bills also include taxes, levies and grid fees, which we do not model.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Limitations of the Model</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SYNTHESIS</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21</a:t>
            </a:r>
          </a:p>
        </p:txBody>
      </p:sp>
      <p:sp>
        <p:nvSpPr>
          <p:cNvPr id="8" name="Rectangle 7"/>
          <p:cNvSpPr/>
          <p:nvPr/>
        </p:nvSpPr>
        <p:spPr>
          <a:xfrm>
            <a:off x="640080" y="1371600"/>
            <a:ext cx="164592" cy="84124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10607040" cy="841248"/>
          </a:xfrm>
          <a:prstGeom prst="rect">
            <a:avLst/>
          </a:prstGeom>
          <a:noFill/>
        </p:spPr>
        <p:txBody>
          <a:bodyPr wrap="square" anchor="ctr" lIns="25400" rIns="25400" tIns="12700" bIns="12700">
            <a:spAutoFit/>
          </a:bodyPr>
          <a:lstStyle/>
          <a:p>
            <a:pPr algn="l">
              <a:spcAft>
                <a:spcPts val="100"/>
              </a:spcAft>
            </a:pPr>
            <a:r>
              <a:rPr sz="1500" b="1" i="0">
                <a:solidFill>
                  <a:srgbClr val="003560"/>
                </a:solidFill>
                <a:latin typeface="Calibri"/>
              </a:rPr>
              <a:t>Single node (copper-plate)</a:t>
            </a:r>
          </a:p>
          <a:p>
            <a:pPr algn="l">
              <a:spcAft>
                <a:spcPts val="0"/>
              </a:spcAft>
            </a:pPr>
            <a:r>
              <a:rPr sz="1300" b="0" i="0">
                <a:solidFill>
                  <a:srgbClr val="222222"/>
                </a:solidFill>
                <a:latin typeface="Calibri"/>
              </a:rPr>
              <a:t>All of Germany is one bus, so internal grid congestion is ignored → curtailment is understated, gas use overstated.</a:t>
            </a:r>
          </a:p>
        </p:txBody>
      </p:sp>
      <p:sp>
        <p:nvSpPr>
          <p:cNvPr id="10" name="Rectangle 9"/>
          <p:cNvSpPr/>
          <p:nvPr/>
        </p:nvSpPr>
        <p:spPr>
          <a:xfrm>
            <a:off x="640080" y="2286000"/>
            <a:ext cx="164592" cy="84124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286000"/>
            <a:ext cx="10607040" cy="841248"/>
          </a:xfrm>
          <a:prstGeom prst="rect">
            <a:avLst/>
          </a:prstGeom>
          <a:noFill/>
        </p:spPr>
        <p:txBody>
          <a:bodyPr wrap="square" anchor="ctr" lIns="25400" rIns="25400" tIns="12700" bIns="12700">
            <a:spAutoFit/>
          </a:bodyPr>
          <a:lstStyle/>
          <a:p>
            <a:pPr algn="l">
              <a:spcAft>
                <a:spcPts val="100"/>
              </a:spcAft>
            </a:pPr>
            <a:r>
              <a:rPr sz="1500" b="1" i="0">
                <a:solidFill>
                  <a:srgbClr val="003560"/>
                </a:solidFill>
                <a:latin typeface="Calibri"/>
              </a:rPr>
              <a:t>Dispatch-only, no investment choice</a:t>
            </a:r>
          </a:p>
          <a:p>
            <a:pPr algn="l">
              <a:spcAft>
                <a:spcPts val="0"/>
              </a:spcAft>
            </a:pPr>
            <a:r>
              <a:rPr sz="1300" b="0" i="0">
                <a:solidFill>
                  <a:srgbClr val="222222"/>
                </a:solidFill>
                <a:latin typeface="Calibri"/>
              </a:rPr>
              <a:t>The model is told to build 10 GW; it does not decide the optimal amount.</a:t>
            </a:r>
          </a:p>
        </p:txBody>
      </p:sp>
      <p:sp>
        <p:nvSpPr>
          <p:cNvPr id="12" name="Rectangle 11"/>
          <p:cNvSpPr/>
          <p:nvPr/>
        </p:nvSpPr>
        <p:spPr>
          <a:xfrm>
            <a:off x="640080" y="3200400"/>
            <a:ext cx="164592" cy="84124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00400"/>
            <a:ext cx="10607040" cy="841248"/>
          </a:xfrm>
          <a:prstGeom prst="rect">
            <a:avLst/>
          </a:prstGeom>
          <a:noFill/>
        </p:spPr>
        <p:txBody>
          <a:bodyPr wrap="square" anchor="ctr" lIns="25400" rIns="25400" tIns="12700" bIns="12700">
            <a:spAutoFit/>
          </a:bodyPr>
          <a:lstStyle/>
          <a:p>
            <a:pPr algn="l">
              <a:spcAft>
                <a:spcPts val="100"/>
              </a:spcAft>
            </a:pPr>
            <a:r>
              <a:rPr sz="1500" b="1" i="0">
                <a:solidFill>
                  <a:srgbClr val="003560"/>
                </a:solidFill>
                <a:latin typeface="Calibri"/>
              </a:rPr>
              <a:t>Perfect foresight</a:t>
            </a:r>
          </a:p>
          <a:p>
            <a:pPr algn="l">
              <a:spcAft>
                <a:spcPts val="0"/>
              </a:spcAft>
            </a:pPr>
            <a:r>
              <a:rPr sz="1300" b="0" i="0">
                <a:solidFill>
                  <a:srgbClr val="222222"/>
                </a:solidFill>
                <a:latin typeface="Calibri"/>
              </a:rPr>
              <a:t>It plans the whole year knowing all weather in advance, so the system runs more smoothly than reality.</a:t>
            </a:r>
          </a:p>
        </p:txBody>
      </p:sp>
      <p:sp>
        <p:nvSpPr>
          <p:cNvPr id="14" name="Rectangle 13"/>
          <p:cNvSpPr/>
          <p:nvPr/>
        </p:nvSpPr>
        <p:spPr>
          <a:xfrm>
            <a:off x="640080" y="4114800"/>
            <a:ext cx="164592" cy="84124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114800"/>
            <a:ext cx="10607040" cy="841248"/>
          </a:xfrm>
          <a:prstGeom prst="rect">
            <a:avLst/>
          </a:prstGeom>
          <a:noFill/>
        </p:spPr>
        <p:txBody>
          <a:bodyPr wrap="square" anchor="ctr" lIns="25400" rIns="25400" tIns="12700" bIns="12700">
            <a:spAutoFit/>
          </a:bodyPr>
          <a:lstStyle/>
          <a:p>
            <a:pPr algn="l">
              <a:spcAft>
                <a:spcPts val="100"/>
              </a:spcAft>
            </a:pPr>
            <a:r>
              <a:rPr sz="1500" b="1" i="0">
                <a:solidFill>
                  <a:srgbClr val="003560"/>
                </a:solidFill>
                <a:latin typeface="Calibri"/>
              </a:rPr>
              <a:t>Single weather &amp; data year (2025)</a:t>
            </a:r>
          </a:p>
          <a:p>
            <a:pPr algn="l">
              <a:spcAft>
                <a:spcPts val="0"/>
              </a:spcAft>
            </a:pPr>
            <a:r>
              <a:rPr sz="1300" b="0" i="0">
                <a:solidFill>
                  <a:srgbClr val="222222"/>
                </a:solidFill>
                <a:latin typeface="Calibri"/>
              </a:rPr>
              <a:t>One year of weather/demand; a harsher year would change the scarcity result.</a:t>
            </a:r>
          </a:p>
        </p:txBody>
      </p:sp>
      <p:sp>
        <p:nvSpPr>
          <p:cNvPr id="16" name="Rectangle 15"/>
          <p:cNvSpPr/>
          <p:nvPr/>
        </p:nvSpPr>
        <p:spPr>
          <a:xfrm>
            <a:off x="640080" y="5029200"/>
            <a:ext cx="164592" cy="841248"/>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029200"/>
            <a:ext cx="10607040" cy="841248"/>
          </a:xfrm>
          <a:prstGeom prst="rect">
            <a:avLst/>
          </a:prstGeom>
          <a:noFill/>
        </p:spPr>
        <p:txBody>
          <a:bodyPr wrap="square" anchor="ctr" lIns="25400" rIns="25400" tIns="12700" bIns="12700">
            <a:spAutoFit/>
          </a:bodyPr>
          <a:lstStyle/>
          <a:p>
            <a:pPr algn="l">
              <a:spcAft>
                <a:spcPts val="100"/>
              </a:spcAft>
            </a:pPr>
            <a:r>
              <a:rPr sz="1500" b="1" i="0">
                <a:solidFill>
                  <a:srgbClr val="003560"/>
                </a:solidFill>
                <a:latin typeface="Calibri"/>
              </a:rPr>
              <a:t>Simplified costs; no taxes/levies</a:t>
            </a:r>
          </a:p>
          <a:p>
            <a:pPr algn="l">
              <a:spcAft>
                <a:spcPts val="0"/>
              </a:spcAft>
            </a:pPr>
            <a:r>
              <a:rPr sz="1300" b="0" i="0">
                <a:solidFill>
                  <a:srgbClr val="222222"/>
                </a:solidFill>
                <a:latin typeface="Calibri"/>
              </a:rPr>
              <a:t>Single fuel/CO₂ prices, no plant outages or start-up costs; wholesale only, no subsidy or consumer-bill layer.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Conclusion &amp; Key Takeaways</a:t>
            </a:r>
          </a:p>
        </p:txBody>
      </p:sp>
      <p:sp>
        <p:nvSpPr>
          <p:cNvPr id="5" name="TextBox 4"/>
          <p:cNvSpPr txBox="1"/>
          <p:nvPr/>
        </p:nvSpPr>
        <p:spPr>
          <a:xfrm>
            <a:off x="9174175" y="164592"/>
            <a:ext cx="2697480" cy="640080"/>
          </a:xfrm>
          <a:prstGeom prst="rect">
            <a:avLst/>
          </a:prstGeom>
          <a:noFill/>
        </p:spPr>
        <p:txBody>
          <a:bodyPr wrap="square" anchor="ctr" lIns="25400" rIns="25400" tIns="12700" bIns="12700">
            <a:spAutoFit/>
          </a:bodyPr>
          <a:lstStyle/>
          <a:p>
            <a:pPr algn="r">
              <a:spcAft>
                <a:spcPts val="0"/>
              </a:spcAft>
            </a:pPr>
            <a:r>
              <a:rPr sz="1200" b="1" i="0">
                <a:solidFill>
                  <a:srgbClr val="8AB71A"/>
                </a:solidFill>
                <a:latin typeface="Calibri"/>
              </a:rPr>
              <a:t>SYNTHESIS</a:t>
            </a:r>
          </a:p>
        </p:txBody>
      </p:sp>
      <p:sp>
        <p:nvSpPr>
          <p:cNvPr id="6" name="TextBox 5"/>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7" name="TextBox 6"/>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22</a:t>
            </a:r>
          </a:p>
        </p:txBody>
      </p:sp>
      <p:sp>
        <p:nvSpPr>
          <p:cNvPr id="8" name="TextBox 7"/>
          <p:cNvSpPr txBox="1"/>
          <p:nvPr/>
        </p:nvSpPr>
        <p:spPr>
          <a:xfrm>
            <a:off x="640080" y="1371600"/>
            <a:ext cx="10881360" cy="3291840"/>
          </a:xfrm>
          <a:prstGeom prst="rect">
            <a:avLst/>
          </a:prstGeom>
          <a:noFill/>
        </p:spPr>
        <p:txBody>
          <a:bodyPr wrap="square" anchor="t" lIns="25400" rIns="25400" tIns="12700" bIns="12700">
            <a:spAutoFit/>
          </a:bodyPr>
          <a:lstStyle/>
          <a:p>
            <a:pPr algn="l">
              <a:spcAft>
                <a:spcPts val="1200"/>
              </a:spcAft>
            </a:pPr>
            <a:r>
              <a:rPr sz="1800" b="0" i="0">
                <a:solidFill>
                  <a:srgbClr val="222222"/>
                </a:solidFill>
                <a:latin typeface="Calibri"/>
              </a:rPr>
              <a:t>•  The Kraftwerksstrategie's +10 GW removes the residual loss-of-load hours (8 → 0) and unserved energy → secured supply.</a:t>
            </a:r>
          </a:p>
          <a:p>
            <a:pPr algn="l">
              <a:spcAft>
                <a:spcPts val="1200"/>
              </a:spcAft>
            </a:pPr>
            <a:r>
              <a:rPr sz="1800" b="0" i="0">
                <a:solidFill>
                  <a:srgbClr val="222222"/>
                </a:solidFill>
                <a:latin typeface="Calibri"/>
              </a:rPr>
              <a:t>•  It lowers the mean wholesale price (−18%) and collapses volatility (−80%) by removing scarcity spikes.</a:t>
            </a:r>
          </a:p>
          <a:p>
            <a:pPr algn="l">
              <a:spcAft>
                <a:spcPts val="1200"/>
              </a:spcAft>
            </a:pPr>
            <a:r>
              <a:rPr sz="1800" b="0" i="0">
                <a:solidFill>
                  <a:srgbClr val="222222"/>
                </a:solidFill>
                <a:latin typeface="Calibri"/>
              </a:rPr>
              <a:t>•  It dilutes existing-gas use and cuts CO₂ (−12%) and imports (−78%); curtailment is unchanged.</a:t>
            </a:r>
          </a:p>
          <a:p>
            <a:pPr algn="l">
              <a:spcAft>
                <a:spcPts val="1200"/>
              </a:spcAft>
            </a:pPr>
            <a:r>
              <a:rPr sz="1800" b="0" i="0">
                <a:solidFill>
                  <a:srgbClr val="222222"/>
                </a:solidFill>
                <a:latin typeface="Calibri"/>
              </a:rPr>
              <a:t>•  At 2030 prices the efficient plant pays for itself — yet the energy-only market may still under-deliver it (missing money), which is the rationale for the mechanism.</a:t>
            </a:r>
          </a:p>
        </p:txBody>
      </p:sp>
      <p:sp>
        <p:nvSpPr>
          <p:cNvPr id="9" name="Rectangle 8"/>
          <p:cNvSpPr/>
          <p:nvPr/>
        </p:nvSpPr>
        <p:spPr>
          <a:xfrm>
            <a:off x="640080" y="4892040"/>
            <a:ext cx="10927080" cy="105156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4983480"/>
            <a:ext cx="10597896" cy="868680"/>
          </a:xfrm>
          <a:prstGeom prst="rect">
            <a:avLst/>
          </a:prstGeom>
          <a:noFill/>
        </p:spPr>
        <p:txBody>
          <a:bodyPr wrap="square" anchor="t" lIns="25400" rIns="25400" tIns="12700" bIns="12700">
            <a:spAutoFit/>
          </a:bodyPr>
          <a:lstStyle/>
          <a:p>
            <a:pPr algn="l">
              <a:spcAft>
                <a:spcPts val="500"/>
              </a:spcAft>
            </a:pPr>
            <a:r>
              <a:rPr sz="1500" b="1" i="0">
                <a:solidFill>
                  <a:srgbClr val="003560"/>
                </a:solidFill>
                <a:latin typeface="Calibri"/>
              </a:rPr>
              <a:t>Outlook</a:t>
            </a:r>
          </a:p>
          <a:p>
            <a:pPr algn="l">
              <a:spcAft>
                <a:spcPts val="400"/>
              </a:spcAft>
            </a:pPr>
            <a:r>
              <a:rPr sz="1250" b="0" i="0">
                <a:solidFill>
                  <a:srgbClr val="222222"/>
                </a:solidFill>
                <a:latin typeface="Calibri"/>
              </a:rPr>
              <a:t>•  Open, transparent models like PyPSA are increasingly the standard for CRM and adequacy analysis — reproducible, extensible to multi-year, multi-region and capacity-expansion studies.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35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0180015" cy="868680"/>
          </a:xfrm>
          <a:prstGeom prst="rect">
            <a:avLst/>
          </a:prstGeom>
          <a:noFill/>
        </p:spPr>
        <p:txBody>
          <a:bodyPr wrap="square" anchor="ctr" lIns="25400" rIns="25400" tIns="12700" bIns="12700">
            <a:spAutoFit/>
          </a:bodyPr>
          <a:lstStyle/>
          <a:p>
            <a:pPr algn="l">
              <a:spcAft>
                <a:spcPts val="0"/>
              </a:spcAft>
            </a:pPr>
            <a:r>
              <a:rPr sz="2700" b="1" i="0">
                <a:solidFill>
                  <a:srgbClr val="FFFFFF"/>
                </a:solidFill>
                <a:latin typeface="Calibri"/>
              </a:rPr>
              <a:t>References (APA 7th)</a:t>
            </a:r>
          </a:p>
        </p:txBody>
      </p:sp>
      <p:sp>
        <p:nvSpPr>
          <p:cNvPr id="5" name="TextBox 4"/>
          <p:cNvSpPr txBox="1"/>
          <p:nvPr/>
        </p:nvSpPr>
        <p:spPr>
          <a:xfrm>
            <a:off x="411480" y="6473952"/>
            <a:ext cx="10911535" cy="320040"/>
          </a:xfrm>
          <a:prstGeom prst="rect">
            <a:avLst/>
          </a:prstGeom>
          <a:noFill/>
        </p:spPr>
        <p:txBody>
          <a:bodyPr wrap="square" anchor="ctr" lIns="25400" rIns="25400" tIns="12700" bIns="12700">
            <a:spAutoFit/>
          </a:bodyPr>
          <a:lstStyle/>
          <a:p>
            <a:pPr algn="l">
              <a:spcAft>
                <a:spcPts val="0"/>
              </a:spcAft>
            </a:pPr>
            <a:r>
              <a:rPr sz="900" b="0" i="0">
                <a:solidFill>
                  <a:srgbClr val="666666"/>
                </a:solidFill>
                <a:latin typeface="Calibri"/>
              </a:rPr>
              <a:t>Ruhr-Universität Bochum  ·  Kraftwerksstrategie  ·  June 2026</a:t>
            </a:r>
          </a:p>
        </p:txBody>
      </p:sp>
      <p:sp>
        <p:nvSpPr>
          <p:cNvPr id="6" name="TextBox 5"/>
          <p:cNvSpPr txBox="1"/>
          <p:nvPr/>
        </p:nvSpPr>
        <p:spPr>
          <a:xfrm>
            <a:off x="11368735" y="6473952"/>
            <a:ext cx="548640" cy="320040"/>
          </a:xfrm>
          <a:prstGeom prst="rect">
            <a:avLst/>
          </a:prstGeom>
          <a:noFill/>
        </p:spPr>
        <p:txBody>
          <a:bodyPr wrap="square" anchor="ctr" lIns="25400" rIns="25400" tIns="12700" bIns="12700">
            <a:spAutoFit/>
          </a:bodyPr>
          <a:lstStyle/>
          <a:p>
            <a:pPr algn="r">
              <a:spcAft>
                <a:spcPts val="0"/>
              </a:spcAft>
            </a:pPr>
            <a:r>
              <a:rPr sz="900" b="0" i="0">
                <a:solidFill>
                  <a:srgbClr val="666666"/>
                </a:solidFill>
                <a:latin typeface="Calibri"/>
              </a:rPr>
              <a:t>23</a:t>
            </a:r>
          </a:p>
        </p:txBody>
      </p:sp>
      <p:sp>
        <p:nvSpPr>
          <p:cNvPr id="7" name="TextBox 6"/>
          <p:cNvSpPr txBox="1"/>
          <p:nvPr/>
        </p:nvSpPr>
        <p:spPr>
          <a:xfrm>
            <a:off x="548640" y="1234440"/>
            <a:ext cx="5532120" cy="5212080"/>
          </a:xfrm>
          <a:prstGeom prst="rect">
            <a:avLst/>
          </a:prstGeom>
          <a:noFill/>
        </p:spPr>
        <p:txBody>
          <a:bodyPr wrap="square" anchor="t" lIns="25400" rIns="25400" tIns="12700" bIns="12700">
            <a:spAutoFit/>
          </a:bodyPr>
          <a:lstStyle/>
          <a:p>
            <a:pPr algn="l">
              <a:spcAft>
                <a:spcPts val="700"/>
              </a:spcAft>
            </a:pPr>
            <a:r>
              <a:rPr sz="1050" b="0" i="0">
                <a:solidFill>
                  <a:srgbClr val="222222"/>
                </a:solidFill>
                <a:latin typeface="Calibri"/>
              </a:rPr>
              <a:t>ACER &amp; CEER. (2013). Capacity remuneration mechanisms and the internal market for electricity.</a:t>
            </a:r>
          </a:p>
          <a:p>
            <a:pPr algn="l">
              <a:spcAft>
                <a:spcPts val="700"/>
              </a:spcAft>
            </a:pPr>
            <a:r>
              <a:rPr sz="1050" b="0" i="0">
                <a:solidFill>
                  <a:srgbClr val="222222"/>
                </a:solidFill>
                <a:latin typeface="Calibri"/>
              </a:rPr>
              <a:t>Bhagwat, P. C., Iychettira, K. K., Richstein, J. C., Chappin, E. J. L., &amp; de Vries, L. J. (2017). The effectiveness of capacity markets in the presence of a high portfolio share of renewable energy sources. Utilities Policy, 48, 76–91.</a:t>
            </a:r>
          </a:p>
          <a:p>
            <a:pPr algn="l">
              <a:spcAft>
                <a:spcPts val="700"/>
              </a:spcAft>
            </a:pPr>
            <a:r>
              <a:rPr sz="1050" b="0" i="0">
                <a:solidFill>
                  <a:srgbClr val="222222"/>
                </a:solidFill>
                <a:latin typeface="Calibri"/>
              </a:rPr>
              <a:t>Brown, T., Hörsch, J., &amp; Schlachtberger, D. (2018). PyPSA: Python for Power System Analysis. Journal of Open Research Software, 6(1), 4.</a:t>
            </a:r>
          </a:p>
          <a:p>
            <a:pPr algn="l">
              <a:spcAft>
                <a:spcPts val="700"/>
              </a:spcAft>
            </a:pPr>
            <a:r>
              <a:rPr sz="1050" b="0" i="0">
                <a:solidFill>
                  <a:srgbClr val="222222"/>
                </a:solidFill>
                <a:latin typeface="Calibri"/>
              </a:rPr>
              <a:t>Bublitz, A., Keles, D., Zimmermann, F., Fraunholz, C., &amp; Fichtner, W. (2019). A survey on electricity market design: Insights on capacity remuneration mechanisms. Energy Economics, 80, 1059–1078.</a:t>
            </a:r>
          </a:p>
          <a:p>
            <a:pPr algn="l">
              <a:spcAft>
                <a:spcPts val="700"/>
              </a:spcAft>
            </a:pPr>
            <a:r>
              <a:rPr sz="1050" b="0" i="0">
                <a:solidFill>
                  <a:srgbClr val="222222"/>
                </a:solidFill>
                <a:latin typeface="Calibri"/>
              </a:rPr>
              <a:t>Cramton, P., &amp; Stoft, S. (2005). A capacity market that makes sense. The Electricity Journal, 18(7), 43–54.</a:t>
            </a:r>
          </a:p>
          <a:p>
            <a:pPr algn="l">
              <a:spcAft>
                <a:spcPts val="700"/>
              </a:spcAft>
            </a:pPr>
            <a:r>
              <a:rPr sz="1050" b="0" i="0">
                <a:solidFill>
                  <a:srgbClr val="222222"/>
                </a:solidFill>
                <a:latin typeface="Calibri"/>
              </a:rPr>
              <a:t>Danish Energy Agency. (2024). Technology data for generation of electricity and district heating.</a:t>
            </a:r>
          </a:p>
          <a:p>
            <a:pPr algn="l">
              <a:spcAft>
                <a:spcPts val="700"/>
              </a:spcAft>
            </a:pPr>
            <a:r>
              <a:rPr sz="1050" b="0" i="0">
                <a:solidFill>
                  <a:srgbClr val="222222"/>
                </a:solidFill>
                <a:latin typeface="Calibri"/>
              </a:rPr>
              <a:t>European Parliament. (2017). Capacity mechanisms for electricity (Briefing PE 603.949). EPRS.</a:t>
            </a:r>
          </a:p>
        </p:txBody>
      </p:sp>
      <p:sp>
        <p:nvSpPr>
          <p:cNvPr id="8" name="TextBox 7"/>
          <p:cNvSpPr txBox="1"/>
          <p:nvPr/>
        </p:nvSpPr>
        <p:spPr>
          <a:xfrm>
            <a:off x="6263640" y="1234440"/>
            <a:ext cx="5532120" cy="5212080"/>
          </a:xfrm>
          <a:prstGeom prst="rect">
            <a:avLst/>
          </a:prstGeom>
          <a:noFill/>
        </p:spPr>
        <p:txBody>
          <a:bodyPr wrap="square" anchor="t" lIns="25400" rIns="25400" tIns="12700" bIns="12700">
            <a:spAutoFit/>
          </a:bodyPr>
          <a:lstStyle/>
          <a:p>
            <a:pPr algn="l">
              <a:spcAft>
                <a:spcPts val="700"/>
              </a:spcAft>
            </a:pPr>
            <a:r>
              <a:rPr sz="1050" b="0" i="0">
                <a:solidFill>
                  <a:srgbClr val="222222"/>
                </a:solidFill>
                <a:latin typeface="Calibri"/>
              </a:rPr>
              <a:t>European Union. (2019). Regulation (EU) 2019/943 on the internal market for electricity. OJ L 158, 54–124.</a:t>
            </a:r>
          </a:p>
          <a:p>
            <a:pPr algn="l">
              <a:spcAft>
                <a:spcPts val="700"/>
              </a:spcAft>
            </a:pPr>
            <a:r>
              <a:rPr sz="1050" b="0" i="0">
                <a:solidFill>
                  <a:srgbClr val="222222"/>
                </a:solidFill>
                <a:latin typeface="Calibri"/>
              </a:rPr>
              <a:t>Huangfu, Q., &amp; Hall, J. A. J. (2018). Parallelizing the dual revised simplex method (HiGHS). Mathematical Programming Computation, 10(1), 119–142.</a:t>
            </a:r>
          </a:p>
          <a:p>
            <a:pPr algn="l">
              <a:spcAft>
                <a:spcPts val="700"/>
              </a:spcAft>
            </a:pPr>
            <a:r>
              <a:rPr sz="1050" b="0" i="0">
                <a:solidFill>
                  <a:srgbClr val="222222"/>
                </a:solidFill>
                <a:latin typeface="Calibri"/>
              </a:rPr>
              <a:t>Joskow, P. L. (2008). Capacity payments in imperfect electricity markets: Need and design. Utilities Policy, 16(3), 159–170.</a:t>
            </a:r>
          </a:p>
          <a:p>
            <a:pPr algn="l">
              <a:spcAft>
                <a:spcPts val="700"/>
              </a:spcAft>
            </a:pPr>
            <a:r>
              <a:rPr sz="1050" b="0" i="0">
                <a:solidFill>
                  <a:srgbClr val="222222"/>
                </a:solidFill>
                <a:latin typeface="Calibri"/>
              </a:rPr>
              <a:t>Newbery, D. (2016). Missing money and missing markets: Reliability, capacity auctions and interconnectors. Energy Policy, 94, 401–410.</a:t>
            </a:r>
          </a:p>
          <a:p>
            <a:pPr algn="l">
              <a:spcAft>
                <a:spcPts val="700"/>
              </a:spcAft>
            </a:pPr>
            <a:r>
              <a:rPr sz="1050" b="0" i="0">
                <a:solidFill>
                  <a:srgbClr val="222222"/>
                </a:solidFill>
                <a:latin typeface="Calibri"/>
              </a:rPr>
              <a:t>50Hertz, Amprion, TenneT, &amp; TransnetBW. (2025). Szenariorahmen zum Netzentwicklungsplan Strom 2037/2045 (V. 2025).</a:t>
            </a:r>
          </a:p>
          <a:p>
            <a:pPr algn="l">
              <a:spcAft>
                <a:spcPts val="700"/>
              </a:spcAft>
            </a:pPr>
            <a:r>
              <a:rPr sz="1050" b="0" i="0">
                <a:solidFill>
                  <a:srgbClr val="222222"/>
                </a:solidFill>
                <a:latin typeface="Calibri"/>
              </a:rPr>
              <a:t>Bundesministerium für Wirtschaft und Energie. (2026, Jan 15). Grundsatzeinigung über Eckpunkte der Kraftwerksstrategie [Press release].</a:t>
            </a:r>
          </a:p>
          <a:p>
            <a:pPr algn="l">
              <a:spcAft>
                <a:spcPts val="700"/>
              </a:spcAft>
            </a:pPr>
            <a:r>
              <a:rPr sz="1050" b="0" i="0">
                <a:solidFill>
                  <a:srgbClr val="222222"/>
                </a:solidFill>
                <a:latin typeface="Calibri"/>
              </a:rPr>
              <a:t>Umweltbundesamt. (2022). CO₂ emission factors for fossil fuels (CC 29/2022).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76200"/>
          </a:xfrm>
          <a:prstGeom prst="rect">
            <a:avLst/>
          </a:prstGeom>
          <a:solidFill>
            <a:srgbClr val="8AB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463040"/>
          </a:xfrm>
          <a:prstGeom prst="rect">
            <a:avLst/>
          </a:prstGeom>
          <a:noFill/>
        </p:spPr>
        <p:txBody>
          <a:bodyPr wrap="square" anchor="ctr" lIns="25400" rIns="25400" tIns="12700" bIns="12700">
            <a:spAutoFit/>
          </a:bodyPr>
          <a:lstStyle/>
          <a:p>
            <a:pPr algn="l">
              <a:spcAft>
                <a:spcPts val="400"/>
              </a:spcAft>
            </a:pPr>
            <a:r>
              <a:rPr sz="4000" b="1" i="0">
                <a:solidFill>
                  <a:srgbClr val="FFFFFF"/>
                </a:solidFill>
                <a:latin typeface="Calibri"/>
              </a:rPr>
              <a:t>Thank you — Questions?</a:t>
            </a:r>
          </a:p>
        </p:txBody>
      </p:sp>
      <p:sp>
        <p:nvSpPr>
          <p:cNvPr id="5" name="TextBox 4"/>
          <p:cNvSpPr txBox="1"/>
          <p:nvPr/>
        </p:nvSpPr>
        <p:spPr>
          <a:xfrm>
            <a:off x="822960" y="4206240"/>
            <a:ext cx="10515600" cy="1097280"/>
          </a:xfrm>
          <a:prstGeom prst="rect">
            <a:avLst/>
          </a:prstGeom>
          <a:noFill/>
        </p:spPr>
        <p:txBody>
          <a:bodyPr wrap="square" anchor="t" lIns="25400" rIns="25400" tIns="12700" bIns="12700">
            <a:spAutoFit/>
          </a:bodyPr>
          <a:lstStyle/>
          <a:p>
            <a:pPr algn="l">
              <a:spcAft>
                <a:spcPts val="400"/>
              </a:spcAft>
            </a:pPr>
            <a:r>
              <a:rPr sz="1500" b="0" i="1">
                <a:solidFill>
                  <a:srgbClr val="CFDDEA"/>
                </a:solidFill>
                <a:latin typeface="Calibri"/>
              </a:rPr>
              <a:t>Evaluating Germany's Kraftwerksstrategie  ·  Literature review + PyPSA model of the 2030 power system</a:t>
            </a:r>
          </a:p>
          <a:p>
            <a:pPr algn="l">
              <a:spcAft>
                <a:spcPts val="0"/>
              </a:spcAft>
            </a:pPr>
            <a:r>
              <a:rPr sz="1300" b="1" i="0">
                <a:solidFill>
                  <a:srgbClr val="8AB71A"/>
                </a:solidFill>
                <a:latin typeface="Calibri"/>
              </a:rPr>
              <a:t>Ruhr-Universität Bochum  ·  June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